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1"/>
  </p:notesMasterIdLst>
  <p:sldIdLst>
    <p:sldId id="256" r:id="rId2"/>
    <p:sldId id="271" r:id="rId3"/>
    <p:sldId id="259" r:id="rId4"/>
    <p:sldId id="265" r:id="rId5"/>
    <p:sldId id="257" r:id="rId6"/>
    <p:sldId id="272" r:id="rId7"/>
    <p:sldId id="273" r:id="rId8"/>
    <p:sldId id="266" r:id="rId9"/>
    <p:sldId id="274" r:id="rId10"/>
    <p:sldId id="260" r:id="rId11"/>
    <p:sldId id="261" r:id="rId12"/>
    <p:sldId id="267" r:id="rId13"/>
    <p:sldId id="268" r:id="rId14"/>
    <p:sldId id="262" r:id="rId15"/>
    <p:sldId id="263" r:id="rId16"/>
    <p:sldId id="269" r:id="rId17"/>
    <p:sldId id="270" r:id="rId18"/>
    <p:sldId id="264" r:id="rId19"/>
    <p:sldId id="276" r:id="rId20"/>
  </p:sldIdLst>
  <p:sldSz cx="12192000" cy="6858000"/>
  <p:notesSz cx="6881813" cy="10002838"/>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3792"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99694" y="0"/>
            <a:ext cx="2982119" cy="501879"/>
          </a:xfrm>
          <a:prstGeom prst="rect">
            <a:avLst/>
          </a:prstGeom>
        </p:spPr>
        <p:txBody>
          <a:bodyPr vert="horz" lIns="96478" tIns="48239" rIns="96478" bIns="48239" rtlCol="1"/>
          <a:lstStyle>
            <a:lvl1pPr algn="r">
              <a:defRPr sz="1300"/>
            </a:lvl1pPr>
          </a:lstStyle>
          <a:p>
            <a:endParaRPr lang="he-IL"/>
          </a:p>
        </p:txBody>
      </p:sp>
      <p:sp>
        <p:nvSpPr>
          <p:cNvPr id="3" name="מציין מיקום של תאריך 2"/>
          <p:cNvSpPr>
            <a:spLocks noGrp="1"/>
          </p:cNvSpPr>
          <p:nvPr>
            <p:ph type="dt" idx="1"/>
          </p:nvPr>
        </p:nvSpPr>
        <p:spPr>
          <a:xfrm>
            <a:off x="1593" y="0"/>
            <a:ext cx="2982119" cy="501879"/>
          </a:xfrm>
          <a:prstGeom prst="rect">
            <a:avLst/>
          </a:prstGeom>
        </p:spPr>
        <p:txBody>
          <a:bodyPr vert="horz" lIns="96478" tIns="48239" rIns="96478" bIns="48239" rtlCol="1"/>
          <a:lstStyle>
            <a:lvl1pPr algn="l">
              <a:defRPr sz="1300"/>
            </a:lvl1pPr>
          </a:lstStyle>
          <a:p>
            <a:fld id="{63F274A1-8379-46BC-B9BC-6F0BFEC0C6DA}" type="datetimeFigureOut">
              <a:rPr lang="he-IL" smtClean="0"/>
              <a:t>י"ז/שבט/תשפ"ב</a:t>
            </a:fld>
            <a:endParaRPr lang="he-IL"/>
          </a:p>
        </p:txBody>
      </p:sp>
      <p:sp>
        <p:nvSpPr>
          <p:cNvPr id="4" name="מציין מיקום של תמונת שקופית 3"/>
          <p:cNvSpPr>
            <a:spLocks noGrp="1" noRot="1" noChangeAspect="1"/>
          </p:cNvSpPr>
          <p:nvPr>
            <p:ph type="sldImg" idx="2"/>
          </p:nvPr>
        </p:nvSpPr>
        <p:spPr>
          <a:xfrm>
            <a:off x="442913" y="1250950"/>
            <a:ext cx="5997575" cy="3375025"/>
          </a:xfrm>
          <a:prstGeom prst="rect">
            <a:avLst/>
          </a:prstGeom>
          <a:noFill/>
          <a:ln w="12700">
            <a:solidFill>
              <a:prstClr val="black"/>
            </a:solidFill>
          </a:ln>
        </p:spPr>
        <p:txBody>
          <a:bodyPr vert="horz" lIns="96478" tIns="48239" rIns="96478" bIns="48239" rtlCol="1" anchor="ctr"/>
          <a:lstStyle/>
          <a:p>
            <a:endParaRPr lang="he-IL"/>
          </a:p>
        </p:txBody>
      </p:sp>
      <p:sp>
        <p:nvSpPr>
          <p:cNvPr id="5" name="מציין מיקום של הערות 4"/>
          <p:cNvSpPr>
            <a:spLocks noGrp="1"/>
          </p:cNvSpPr>
          <p:nvPr>
            <p:ph type="body" sz="quarter" idx="3"/>
          </p:nvPr>
        </p:nvSpPr>
        <p:spPr>
          <a:xfrm>
            <a:off x="688182" y="4813866"/>
            <a:ext cx="5505450" cy="3938617"/>
          </a:xfrm>
          <a:prstGeom prst="rect">
            <a:avLst/>
          </a:prstGeom>
        </p:spPr>
        <p:txBody>
          <a:bodyPr vert="horz" lIns="96478" tIns="48239" rIns="96478" bIns="48239"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99694" y="9500961"/>
            <a:ext cx="2982119" cy="501878"/>
          </a:xfrm>
          <a:prstGeom prst="rect">
            <a:avLst/>
          </a:prstGeom>
        </p:spPr>
        <p:txBody>
          <a:bodyPr vert="horz" lIns="96478" tIns="48239" rIns="96478" bIns="48239"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593" y="9500961"/>
            <a:ext cx="2982119" cy="501878"/>
          </a:xfrm>
          <a:prstGeom prst="rect">
            <a:avLst/>
          </a:prstGeom>
        </p:spPr>
        <p:txBody>
          <a:bodyPr vert="horz" lIns="96478" tIns="48239" rIns="96478" bIns="48239" rtlCol="1" anchor="b"/>
          <a:lstStyle>
            <a:lvl1pPr algn="l">
              <a:defRPr sz="1300"/>
            </a:lvl1pPr>
          </a:lstStyle>
          <a:p>
            <a:fld id="{0766512B-AE97-49B6-9B68-0DC406253736}" type="slidenum">
              <a:rPr lang="he-IL" smtClean="0"/>
              <a:t>‹#›</a:t>
            </a:fld>
            <a:endParaRPr lang="he-IL"/>
          </a:p>
        </p:txBody>
      </p:sp>
    </p:spTree>
    <p:extLst>
      <p:ext uri="{BB962C8B-B14F-4D97-AF65-F5344CB8AC3E}">
        <p14:creationId xmlns:p14="http://schemas.microsoft.com/office/powerpoint/2010/main" val="218667952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כשנתקלנו בפעם הראשונה במונח "פדגוגיה טיפולית", אמרנו, אנחנו כבר עושות את זה שנים.... והנה, בא מישהו והמשיג לנו את העבודה...בקורס, הבנתי שפדגוגיה טיפולית זו תורה יותר רחבה ושיש עוד הרבה הוגי </a:t>
            </a:r>
            <a:r>
              <a:rPr lang="he-IL" dirty="0" err="1"/>
              <a:t>דיעות</a:t>
            </a:r>
            <a:r>
              <a:rPr lang="he-IL" dirty="0"/>
              <a:t> ומושגים שאני צריכה ללמוד ולתרגם לשפת הגיל הרך, אבל זו ההתחלה, בחרתי להציג מעט ממשנתו של וויניקוט שהוא, הקרוב ביותר וזה שמדבר הכי הרבה על הגיל הרך, התרגום לעבודה שלנו הוא יחסית ברור ולא דורש פרשנות מורכבת</a:t>
            </a:r>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a:t>
            </a:fld>
            <a:endParaRPr lang="he-IL"/>
          </a:p>
        </p:txBody>
      </p:sp>
    </p:spTree>
    <p:extLst>
      <p:ext uri="{BB962C8B-B14F-4D97-AF65-F5344CB8AC3E}">
        <p14:creationId xmlns:p14="http://schemas.microsoft.com/office/powerpoint/2010/main" val="1021474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sz="1900" dirty="0">
                <a:solidFill>
                  <a:srgbClr val="2D2D2D"/>
                </a:solidFill>
                <a:ea typeface="Times New Roman" panose="02020603050405020304" pitchFamily="18" charset="0"/>
                <a:cs typeface="Tahoma" panose="020B0604030504040204" pitchFamily="34" charset="0"/>
              </a:rPr>
              <a:t>אבל גם הקוראים המסתפקים בנוסח העברי יכולים להבחין בעדינות המיוחדת של השיח של ויניקוט, בהימנעותו מאינטלקטואליזם צחיח ומנותק רגשית, בנטייתו לפרדוקסים, באהבת האנדרסטייטמנט הבריטי, בהפתעות הומוריסטיות, ביכולתו לדייק בתיאור רגשות מורכבים ועוד. למשל: "בעבודתי הפסיכואנליטית אני חותר:// להישאר בחיים/ להישאר בריא/ להישאר ער// אני חותר להיות עצמי ולהתנהג כעצמי". לתיאורי הרגשות בכתיבתו אין תקדים בכתיבתם של פרויד וקליין, שרדיפתם אחרי מבנה תיאורטי מוצק וכוללני, העלימה מהם את מושא חקירתם החמקמק מטבעו - האדם - על כל רגשותיו ורגישויותיו. כמו משוררים רבים, ויניקוט רצה בכתיבה שאינה מעוגנת רק בשכל אלא גם בגוף וברגש, והוא השיג לעתים משהו מעין זה</a:t>
            </a:r>
          </a:p>
          <a:p>
            <a:r>
              <a:rPr lang="he-IL" sz="1900" dirty="0">
                <a:solidFill>
                  <a:srgbClr val="2D2D2D"/>
                </a:solidFill>
                <a:ea typeface="Times New Roman" panose="02020603050405020304" pitchFamily="18" charset="0"/>
                <a:cs typeface="Tahoma" panose="020B0604030504040204" pitchFamily="34" charset="0"/>
              </a:rPr>
              <a:t>אין זה מקרה שוויניקוט העניק ליצירתיות ולמעשי האמנות לסוגיהם מעמד חשוב במיוחד, שאינו קשור בסובלימציה של יצרים ראשוניים אלא בעצם הזכות להיות עצמי בעל ממשות ובן חורין</a:t>
            </a:r>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2</a:t>
            </a:fld>
            <a:endParaRPr lang="he-IL"/>
          </a:p>
        </p:txBody>
      </p:sp>
    </p:spTree>
    <p:extLst>
      <p:ext uri="{BB962C8B-B14F-4D97-AF65-F5344CB8AC3E}">
        <p14:creationId xmlns:p14="http://schemas.microsoft.com/office/powerpoint/2010/main" val="2777348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61794" indent="-361794">
              <a:lnSpc>
                <a:spcPct val="150000"/>
              </a:lnSpc>
              <a:buFont typeface="Wingdings" panose="05000000000000000000" pitchFamily="2" charset="2"/>
              <a:buChar char=""/>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בסופו של דבר, המטרה היא למידה</a:t>
            </a:r>
            <a:endParaRPr lang="en-US" sz="1900" dirty="0">
              <a:latin typeface="Calibri" panose="020F0502020204030204" pitchFamily="34" charset="0"/>
              <a:ea typeface="Calibri" panose="020F0502020204030204" pitchFamily="34" charset="0"/>
              <a:cs typeface="Arial" panose="020B0604020202020204" pitchFamily="34" charset="0"/>
            </a:endParaRPr>
          </a:p>
          <a:p>
            <a:pPr marL="361794" indent="-361794">
              <a:lnSpc>
                <a:spcPct val="150000"/>
              </a:lnSpc>
              <a:buFont typeface="Wingdings" panose="05000000000000000000" pitchFamily="2" charset="2"/>
              <a:buChar char=""/>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לא תהיה הזדמנות להקנות ידע, אם אני לא אייצר את הקשר האישי, </a:t>
            </a:r>
            <a:r>
              <a:rPr lang="he-IL" sz="1900" dirty="0" err="1">
                <a:solidFill>
                  <a:srgbClr val="C00000"/>
                </a:solidFill>
                <a:latin typeface="Calibri" panose="020F0502020204030204" pitchFamily="34" charset="0"/>
                <a:ea typeface="Calibri" panose="020F0502020204030204" pitchFamily="34" charset="0"/>
                <a:cs typeface="Segoe UI Light" panose="020B0502040204020203" pitchFamily="34" charset="0"/>
              </a:rPr>
              <a:t>בתכנית</a:t>
            </a: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 אור, מאז ומתמיד, דברנו על הקידום של הילד דרך הקשר ועל היותנו דמות התקשרות חלופית</a:t>
            </a:r>
            <a:endParaRPr lang="en-US" sz="1900" dirty="0">
              <a:latin typeface="Calibri" panose="020F0502020204030204" pitchFamily="34" charset="0"/>
              <a:ea typeface="Calibri" panose="020F0502020204030204" pitchFamily="34" charset="0"/>
              <a:cs typeface="Arial" panose="020B0604020202020204" pitchFamily="34" charset="0"/>
            </a:endParaRPr>
          </a:p>
          <a:p>
            <a:pPr marL="361794" indent="-361794">
              <a:lnSpc>
                <a:spcPct val="150000"/>
              </a:lnSpc>
              <a:spcAft>
                <a:spcPts val="844"/>
              </a:spcAft>
              <a:buFont typeface="Wingdings" panose="05000000000000000000" pitchFamily="2" charset="2"/>
              <a:buChar char=""/>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לא תהיה התערבות אפקטיבית של מי שעובדת עם הילדים, אם לא תהיה לה ולילד , התקשרות ראויה</a:t>
            </a:r>
            <a:endParaRPr lang="en-US" sz="1900" dirty="0">
              <a:latin typeface="Calibri" panose="020F0502020204030204" pitchFamily="34" charset="0"/>
              <a:ea typeface="Calibri" panose="020F0502020204030204" pitchFamily="34" charset="0"/>
              <a:cs typeface="Arial" panose="020B0604020202020204" pitchFamily="34" charset="0"/>
            </a:endParaRPr>
          </a:p>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היכולת האמפתית היא המצע שעליו אפשר להצמיח את היכולת של הילד להתמודד</a:t>
            </a:r>
            <a:endParaRPr lang="en-US" sz="1900" dirty="0">
              <a:latin typeface="Calibri" panose="020F0502020204030204" pitchFamily="34" charset="0"/>
              <a:ea typeface="Calibri" panose="020F0502020204030204" pitchFamily="34" charset="0"/>
              <a:cs typeface="Arial" panose="020B0604020202020204" pitchFamily="34" charset="0"/>
            </a:endParaRPr>
          </a:p>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אמפתיה זה תהליך-</a:t>
            </a:r>
          </a:p>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מוכל, יכול, מכיל</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ההתוודעות לשילוש האינטראקטיבי</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מה קורה לי?</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מה קורה לאחר? </a:t>
            </a:r>
            <a:r>
              <a:rPr lang="he-IL" sz="1900" dirty="0" err="1">
                <a:solidFill>
                  <a:srgbClr val="C00000"/>
                </a:solidFill>
                <a:latin typeface="Calibri" panose="020F0502020204030204" pitchFamily="34" charset="0"/>
                <a:ea typeface="Calibri" panose="020F0502020204030204" pitchFamily="34" charset="0"/>
                <a:cs typeface="Segoe UI Light" panose="020B0502040204020203" pitchFamily="34" charset="0"/>
              </a:rPr>
              <a:t>מאויים</a:t>
            </a: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 חרד </a:t>
            </a:r>
            <a:r>
              <a:rPr lang="he-IL" sz="1900" dirty="0" err="1">
                <a:solidFill>
                  <a:srgbClr val="C00000"/>
                </a:solidFill>
                <a:latin typeface="Calibri" panose="020F0502020204030204" pitchFamily="34" charset="0"/>
                <a:ea typeface="Calibri" panose="020F0502020204030204" pitchFamily="34" charset="0"/>
                <a:cs typeface="Segoe UI Light" panose="020B0502040204020203" pitchFamily="34" charset="0"/>
              </a:rPr>
              <a:t>וכו</a:t>
            </a:r>
            <a:endParaRPr lang="en-US" sz="1900" dirty="0">
              <a:latin typeface="Calibri" panose="020F0502020204030204" pitchFamily="34" charset="0"/>
              <a:ea typeface="Calibri" panose="020F0502020204030204" pitchFamily="34" charset="0"/>
              <a:cs typeface="Arial" panose="020B0604020202020204" pitchFamily="34" charset="0"/>
            </a:endParaRPr>
          </a:p>
          <a:p>
            <a:r>
              <a:rPr lang="he-IL" sz="1900" dirty="0">
                <a:solidFill>
                  <a:srgbClr val="C00000"/>
                </a:solidFill>
                <a:ea typeface="Calibri" panose="020F0502020204030204" pitchFamily="34" charset="0"/>
                <a:cs typeface="Segoe UI Light" panose="020B0502040204020203" pitchFamily="34" charset="0"/>
              </a:rPr>
              <a:t>מה קורה ביננו? </a:t>
            </a:r>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3</a:t>
            </a:fld>
            <a:endParaRPr lang="he-IL"/>
          </a:p>
        </p:txBody>
      </p:sp>
    </p:spTree>
    <p:extLst>
      <p:ext uri="{BB962C8B-B14F-4D97-AF65-F5344CB8AC3E}">
        <p14:creationId xmlns:p14="http://schemas.microsoft.com/office/powerpoint/2010/main" val="3829206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4</a:t>
            </a:fld>
            <a:endParaRPr lang="he-IL"/>
          </a:p>
        </p:txBody>
      </p:sp>
    </p:spTree>
    <p:extLst>
      <p:ext uri="{BB962C8B-B14F-4D97-AF65-F5344CB8AC3E}">
        <p14:creationId xmlns:p14="http://schemas.microsoft.com/office/powerpoint/2010/main" val="1504174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החוויה הנפשית מחולקת ל-3 אזורי פעילות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מציאות פנימית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מציאות חיצונית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מרחב פוטנציאלי</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אזור ביניים שנוצר מאובייקט המעבר, מתחיל מחוויה מצומצמת של הילד עם אובייקט המעבר וזה מתפתח לכל החוויות שיש לילד עם משחק, סימבוליזציה ותרבות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אובייקט המעבר מתפוגג ומאבד משמעות, אבל החוויה שהוא יוצר- נשארת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את העולם הפנימי- רק מבקרים</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רוב הזמן- האדם חי במרחב הפוטנציאלי, האיכות של המרחב הפוטנציאלי, נקבעת על ידי הקשר הראשון עם הגורם המטפל</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בעולם הטיפולי- יש למטפל הזדמנות לתקן משהו שהוא לא ממש אני ולא ממש אתה ולשנות את האיכות של מרחב הביניים</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הנוכחות של המטפל צריכה להיות מאפשרת ומשחקת, וגם מתמסרת מאד וקשובה, אז נוצר מפגש של אזור הנפש של המטפל והמטופל</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ילד צריך ללמוד להכיל בתוכו את האני ואת הלא אני- האחר</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המרחב הזה מאפשר את </a:t>
            </a:r>
            <a:r>
              <a:rPr lang="he-IL" sz="1900" dirty="0" err="1">
                <a:solidFill>
                  <a:srgbClr val="C00000"/>
                </a:solidFill>
                <a:latin typeface="Calibri" panose="020F0502020204030204" pitchFamily="34" charset="0"/>
                <a:ea typeface="Calibri" panose="020F0502020204030204" pitchFamily="34" charset="0"/>
                <a:cs typeface="Segoe UI Light" panose="020B0502040204020203" pitchFamily="34" charset="0"/>
              </a:rPr>
              <a:t>הביחד</a:t>
            </a: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 ואת השוני</a:t>
            </a:r>
            <a:endParaRPr lang="en-US" sz="1900" dirty="0">
              <a:latin typeface="Calibri" panose="020F0502020204030204" pitchFamily="34" charset="0"/>
              <a:ea typeface="Calibri" panose="020F0502020204030204" pitchFamily="34" charset="0"/>
              <a:cs typeface="Arial" panose="020B0604020202020204" pitchFamily="34" charset="0"/>
            </a:endParaRPr>
          </a:p>
          <a:p>
            <a:r>
              <a:rPr lang="he-IL" b="0" i="0" dirty="0">
                <a:solidFill>
                  <a:srgbClr val="4D5156"/>
                </a:solidFill>
                <a:effectLst/>
                <a:latin typeface="arial" panose="020B0604020202020204" pitchFamily="34" charset="0"/>
              </a:rPr>
              <a:t>ויניקוט מייחס חשיבות רבה למשחק והוא מבחינתו חיוני לכל אדם. היכולת לשחק היא בסיסית, לכן חשוב שלמטפל עצמו תהיה את היכולת לשחק, מה שיאפשר לו לאפשר אותה גם אצל המטופל. המשחק, על פי ויניקוט הוא דרך של לחיות (</a:t>
            </a:r>
            <a:r>
              <a:rPr lang="en-US" b="0" i="0" dirty="0">
                <a:solidFill>
                  <a:srgbClr val="4D5156"/>
                </a:solidFill>
                <a:effectLst/>
                <a:latin typeface="arial" panose="020B0604020202020204" pitchFamily="34" charset="0"/>
              </a:rPr>
              <a:t>living), </a:t>
            </a:r>
            <a:r>
              <a:rPr lang="he-IL" b="0" i="0" dirty="0">
                <a:solidFill>
                  <a:srgbClr val="4D5156"/>
                </a:solidFill>
                <a:effectLst/>
                <a:latin typeface="arial" panose="020B0604020202020204" pitchFamily="34" charset="0"/>
              </a:rPr>
              <a:t>חוויה יצירתית במהותה, שמתקשרת לבריאות, לגדילה, ליחסים עם קבוצה, והוא זה שמאפשר גם תקשורת בפסיכותרפיה, היא סוג מאוד משוכלל של משחק. ויניקוט קובע כי המשחק כשלעצמו הוא תרפויטי, ושאם המטפל והמטופל ״מצליחים לשחק״ יחד, מתקיים אלמנט של תרפיה. </a:t>
            </a:r>
          </a:p>
          <a:p>
            <a:r>
              <a:rPr lang="he-IL" b="0" i="0" dirty="0">
                <a:solidFill>
                  <a:srgbClr val="4D5156"/>
                </a:solidFill>
                <a:effectLst/>
                <a:latin typeface="arial" panose="020B0604020202020204" pitchFamily="34" charset="0"/>
              </a:rPr>
              <a:t>מרחב פוטנציאלי </a:t>
            </a:r>
            <a:r>
              <a:rPr lang="he-IL" b="0" i="0" dirty="0" err="1">
                <a:solidFill>
                  <a:srgbClr val="4D5156"/>
                </a:solidFill>
                <a:effectLst/>
                <a:latin typeface="arial" panose="020B0604020202020204" pitchFamily="34" charset="0"/>
              </a:rPr>
              <a:t>בתכנית</a:t>
            </a:r>
            <a:r>
              <a:rPr lang="he-IL" b="0" i="0" dirty="0">
                <a:solidFill>
                  <a:srgbClr val="4D5156"/>
                </a:solidFill>
                <a:effectLst/>
                <a:latin typeface="arial" panose="020B0604020202020204" pitchFamily="34" charset="0"/>
              </a:rPr>
              <a:t> אור- מרחב שיש בו החזקה, טיפול פיזי- </a:t>
            </a:r>
            <a:r>
              <a:rPr lang="he-IL" b="0" i="0" dirty="0" err="1">
                <a:solidFill>
                  <a:srgbClr val="4D5156"/>
                </a:solidFill>
                <a:effectLst/>
                <a:latin typeface="arial" panose="020B0604020202020204" pitchFamily="34" charset="0"/>
              </a:rPr>
              <a:t>הנדלינג</a:t>
            </a:r>
            <a:r>
              <a:rPr lang="he-IL" b="0" i="0" dirty="0">
                <a:solidFill>
                  <a:srgbClr val="4D5156"/>
                </a:solidFill>
                <a:effectLst/>
                <a:latin typeface="arial" panose="020B0604020202020204" pitchFamily="34" charset="0"/>
              </a:rPr>
              <a:t> והצגת אובייקט בדרך שהילד יוכל להכיל את האובייקטים המוצגים לו- הם צריכים להיות מותאמים, לשרת אותו, להוביל </a:t>
            </a:r>
            <a:r>
              <a:rPr lang="he-IL" b="0" i="0" dirty="0" err="1">
                <a:solidFill>
                  <a:srgbClr val="4D5156"/>
                </a:solidFill>
                <a:effectLst/>
                <a:latin typeface="arial" panose="020B0604020202020204" pitchFamily="34" charset="0"/>
              </a:rPr>
              <a:t>לבטחונו</a:t>
            </a:r>
            <a:r>
              <a:rPr lang="he-IL" b="0" i="0" dirty="0">
                <a:solidFill>
                  <a:srgbClr val="4D5156"/>
                </a:solidFill>
                <a:effectLst/>
                <a:latin typeface="arial" panose="020B0604020202020204" pitchFamily="34" charset="0"/>
              </a:rPr>
              <a:t> ומתאימים לשלב ההתפתחותי שלו</a:t>
            </a:r>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5</a:t>
            </a:fld>
            <a:endParaRPr lang="he-IL"/>
          </a:p>
        </p:txBody>
      </p:sp>
    </p:spTree>
    <p:extLst>
      <p:ext uri="{BB962C8B-B14F-4D97-AF65-F5344CB8AC3E}">
        <p14:creationId xmlns:p14="http://schemas.microsoft.com/office/powerpoint/2010/main" val="3286870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0" i="0" dirty="0">
                <a:solidFill>
                  <a:srgbClr val="4D5156"/>
                </a:solidFill>
                <a:effectLst/>
                <a:latin typeface="arial" panose="020B0604020202020204" pitchFamily="34" charset="0"/>
              </a:rPr>
              <a:t>ויניקוט מייחס חשיבות הרבה למשחק והיא מבחינתו חיונית לכל אדם. היכולת לשחק היא בסיסית, לכן חשוב שלמטפל עצמו תהיה את היכולת לשחק, מה שיאפשר לו לאפשר אותה גם אצל המטופל. המשחק, על פי ויניקוט הוא דרך של לחיות (</a:t>
            </a:r>
            <a:r>
              <a:rPr lang="en-US" b="0" i="0" dirty="0">
                <a:solidFill>
                  <a:srgbClr val="4D5156"/>
                </a:solidFill>
                <a:effectLst/>
                <a:latin typeface="arial" panose="020B0604020202020204" pitchFamily="34" charset="0"/>
              </a:rPr>
              <a:t>living), </a:t>
            </a:r>
            <a:r>
              <a:rPr lang="he-IL" b="0" i="0" dirty="0">
                <a:solidFill>
                  <a:srgbClr val="4D5156"/>
                </a:solidFill>
                <a:effectLst/>
                <a:latin typeface="arial" panose="020B0604020202020204" pitchFamily="34" charset="0"/>
              </a:rPr>
              <a:t>חוויה יצירתית במהותה, שמתקשרת לבריאות, לגדילה, ליחסים עם קבוצה, והוא זה שמאפשר גם תקשורת בפסיכותרפיה, היא סוג מאוד משוכלל של משחק. ויניקוט קובע כי המשחק כשלעצמו הוא תרפויטי, ושאם המטפל והמטופל ״מצליחים לשחק״ יחד, מתקיים אלמנט של תרפיה. הוא מתייחס גם למצב בו משחק עלול להיות מפחיד, ואז, נעדרת יכולת אמיתית לשחק באופן יציר</a:t>
            </a:r>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6</a:t>
            </a:fld>
            <a:endParaRPr lang="he-IL"/>
          </a:p>
        </p:txBody>
      </p:sp>
    </p:spTree>
    <p:extLst>
      <p:ext uri="{BB962C8B-B14F-4D97-AF65-F5344CB8AC3E}">
        <p14:creationId xmlns:p14="http://schemas.microsoft.com/office/powerpoint/2010/main" val="2635796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החוויה הנפשית מחולקת ל-3 אזורי פעילות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מציאות פנימית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מציאות חיצונית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מרחב פוטנציאלי</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אזור ביניים שנוצר מאובייקט המעבר, מתחיל מחוויה מצומצמת של הילד עם אובייקט המעבר וזה מתפתח לכל החוויות שיש לילד עם משחק, סימבוליזציה ותרבות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אובייקט המעבר מתפוגג ומאבד משמעות, אבל החוויה שהוא יוצר- נשארת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את העולם הפנימי- רק מבקרים</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רוב הזמן- האדם חי במרחב הפוטנציאלי, האיכות של המרחב הפוטנציאלי, נקבעת על ידי הקשר הראשון עם הגורם המטפל</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בעולם הטיפולי- יש למטפל הזדמנות לתקן משהו שהוא לא ממש אני ולא ממש אתה ולשנות את האיכות של מרחב הביניים</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הנוכחות של המטפל צריכה להיות מאפשרת ומשחקת, וגם מתמסרת מאד וקשובה, אז נוצר מפגש של אזור הנפש של המטפל והמטופל</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ילד צריך ללמוד להכיל בתוכו את האני ואת הלא אני- האחר</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המרחב הזה מאפשר את </a:t>
            </a:r>
            <a:r>
              <a:rPr lang="he-IL" sz="1900" dirty="0" err="1">
                <a:solidFill>
                  <a:srgbClr val="C00000"/>
                </a:solidFill>
                <a:latin typeface="Calibri" panose="020F0502020204030204" pitchFamily="34" charset="0"/>
                <a:ea typeface="Calibri" panose="020F0502020204030204" pitchFamily="34" charset="0"/>
                <a:cs typeface="Segoe UI Light" panose="020B0502040204020203" pitchFamily="34" charset="0"/>
              </a:rPr>
              <a:t>הביחד</a:t>
            </a: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 ואת השוני</a:t>
            </a:r>
            <a:endParaRPr lang="en-US" sz="1900" dirty="0">
              <a:latin typeface="Calibri" panose="020F0502020204030204" pitchFamily="34" charset="0"/>
              <a:ea typeface="Calibri" panose="020F0502020204030204" pitchFamily="34" charset="0"/>
              <a:cs typeface="Arial" panose="020B0604020202020204" pitchFamily="34" charset="0"/>
            </a:endParaRPr>
          </a:p>
          <a:p>
            <a:r>
              <a:rPr lang="he-IL" b="0" i="0" dirty="0">
                <a:solidFill>
                  <a:srgbClr val="4D5156"/>
                </a:solidFill>
                <a:effectLst/>
                <a:latin typeface="arial" panose="020B0604020202020204" pitchFamily="34" charset="0"/>
              </a:rPr>
              <a:t>ויניקוט מייחס חשיבות רבה למשחק והוא מבחינתו חיוני לכל אדם. היכולת לשחק היא בסיסית, לכן חשוב שלמטפל עצמו תהיה את היכולת לשחק, מה שיאפשר לו לאפשר אותה גם אצל המטופל. המשחק, על פי ויניקוט הוא דרך של לחיות (</a:t>
            </a:r>
            <a:r>
              <a:rPr lang="en-US" b="0" i="0" dirty="0">
                <a:solidFill>
                  <a:srgbClr val="4D5156"/>
                </a:solidFill>
                <a:effectLst/>
                <a:latin typeface="arial" panose="020B0604020202020204" pitchFamily="34" charset="0"/>
              </a:rPr>
              <a:t>living), </a:t>
            </a:r>
            <a:r>
              <a:rPr lang="he-IL" b="0" i="0" dirty="0">
                <a:solidFill>
                  <a:srgbClr val="4D5156"/>
                </a:solidFill>
                <a:effectLst/>
                <a:latin typeface="arial" panose="020B0604020202020204" pitchFamily="34" charset="0"/>
              </a:rPr>
              <a:t>חוויה יצירתית במהותה, שמתקשרת לבריאות, לגדילה, ליחסים עם קבוצה, והוא זה שמאפשר גם תקשורת בפסיכותרפיה, היא סוג מאוד משוכלל של משחק. ויניקוט קובע כי המשחק כשלעצמו הוא תרפויטי, ושאם המטפל והמטופל ״מצליחים לשחק״ יחד, מתקיים אלמנט של תרפיה. </a:t>
            </a:r>
          </a:p>
          <a:p>
            <a:r>
              <a:rPr lang="he-IL" b="0" i="0" dirty="0">
                <a:solidFill>
                  <a:srgbClr val="4D5156"/>
                </a:solidFill>
                <a:effectLst/>
                <a:latin typeface="arial" panose="020B0604020202020204" pitchFamily="34" charset="0"/>
              </a:rPr>
              <a:t>מרחב פוטנציאלי </a:t>
            </a:r>
            <a:r>
              <a:rPr lang="he-IL" b="0" i="0" dirty="0" err="1">
                <a:solidFill>
                  <a:srgbClr val="4D5156"/>
                </a:solidFill>
                <a:effectLst/>
                <a:latin typeface="arial" panose="020B0604020202020204" pitchFamily="34" charset="0"/>
              </a:rPr>
              <a:t>בתכנית</a:t>
            </a:r>
            <a:r>
              <a:rPr lang="he-IL" b="0" i="0" dirty="0">
                <a:solidFill>
                  <a:srgbClr val="4D5156"/>
                </a:solidFill>
                <a:effectLst/>
                <a:latin typeface="arial" panose="020B0604020202020204" pitchFamily="34" charset="0"/>
              </a:rPr>
              <a:t> אור- מרחב שיש בו החזקה, טיפול פיזי- </a:t>
            </a:r>
            <a:r>
              <a:rPr lang="he-IL" b="0" i="0" dirty="0" err="1">
                <a:solidFill>
                  <a:srgbClr val="4D5156"/>
                </a:solidFill>
                <a:effectLst/>
                <a:latin typeface="arial" panose="020B0604020202020204" pitchFamily="34" charset="0"/>
              </a:rPr>
              <a:t>הנדלינג</a:t>
            </a:r>
            <a:r>
              <a:rPr lang="he-IL" b="0" i="0" dirty="0">
                <a:solidFill>
                  <a:srgbClr val="4D5156"/>
                </a:solidFill>
                <a:effectLst/>
                <a:latin typeface="arial" panose="020B0604020202020204" pitchFamily="34" charset="0"/>
              </a:rPr>
              <a:t> והצגת אובייקט בדרך שהילד יוכל להכיל את האובייקטים המוצגים לו- הם צריכים להיות מותאמים, לשרת אותו, להוביל </a:t>
            </a:r>
            <a:r>
              <a:rPr lang="he-IL" b="0" i="0" dirty="0" err="1">
                <a:solidFill>
                  <a:srgbClr val="4D5156"/>
                </a:solidFill>
                <a:effectLst/>
                <a:latin typeface="arial" panose="020B0604020202020204" pitchFamily="34" charset="0"/>
              </a:rPr>
              <a:t>לבטחונו</a:t>
            </a:r>
            <a:r>
              <a:rPr lang="he-IL" b="0" i="0" dirty="0">
                <a:solidFill>
                  <a:srgbClr val="4D5156"/>
                </a:solidFill>
                <a:effectLst/>
                <a:latin typeface="arial" panose="020B0604020202020204" pitchFamily="34" charset="0"/>
              </a:rPr>
              <a:t> ומתאימים לשלב ההתפתחותי שלו</a:t>
            </a:r>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7</a:t>
            </a:fld>
            <a:endParaRPr lang="he-IL"/>
          </a:p>
        </p:txBody>
      </p:sp>
    </p:spTree>
    <p:extLst>
      <p:ext uri="{BB962C8B-B14F-4D97-AF65-F5344CB8AC3E}">
        <p14:creationId xmlns:p14="http://schemas.microsoft.com/office/powerpoint/2010/main" val="3367542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לתת לילד חוויה של נוכחות פעילה ומארגנת</a:t>
            </a:r>
            <a:endParaRPr lang="en-US" sz="1900" dirty="0">
              <a:latin typeface="Calibri" panose="020F0502020204030204" pitchFamily="34" charset="0"/>
              <a:ea typeface="Calibri" panose="020F0502020204030204" pitchFamily="34" charset="0"/>
              <a:cs typeface="Arial" panose="020B0604020202020204" pitchFamily="34" charset="0"/>
            </a:endParaRPr>
          </a:p>
          <a:p>
            <a:pPr algn="r"/>
            <a:r>
              <a:rPr lang="he-IL" b="0" i="0" dirty="0">
                <a:solidFill>
                  <a:srgbClr val="4D5156"/>
                </a:solidFill>
                <a:effectLst/>
                <a:latin typeface="arial" panose="020B0604020202020204" pitchFamily="34" charset="0"/>
              </a:rPr>
              <a:t>ויניקוט היה הראשון להדגיש את האופן בו אם אוהבת אוחזת בתינוקה ועמד על </a:t>
            </a:r>
            <a:r>
              <a:rPr lang="he-IL" b="0" i="0" dirty="0" err="1">
                <a:solidFill>
                  <a:srgbClr val="4D5156"/>
                </a:solidFill>
                <a:effectLst/>
                <a:latin typeface="arial" panose="020B0604020202020204" pitchFamily="34" charset="0"/>
              </a:rPr>
              <a:t>הההשלכות</a:t>
            </a:r>
            <a:r>
              <a:rPr lang="he-IL" b="0" i="0" dirty="0">
                <a:solidFill>
                  <a:srgbClr val="4D5156"/>
                </a:solidFill>
                <a:effectLst/>
                <a:latin typeface="arial" panose="020B0604020202020204" pitchFamily="34" charset="0"/>
              </a:rPr>
              <a:t> הנפשיות מרחיקות הלכת שיש להחזקה זו על ההתפתחות הנפשית. מתוך עמדה זו התפתח המושג 'החזקה', שהושאל לאחר מכן לעולם הטיפולי.</a:t>
            </a:r>
          </a:p>
          <a:p>
            <a:pPr algn="r"/>
            <a:r>
              <a:rPr lang="he-IL" b="0" i="0" dirty="0">
                <a:solidFill>
                  <a:srgbClr val="4D5156"/>
                </a:solidFill>
                <a:effectLst/>
                <a:latin typeface="arial" panose="020B0604020202020204" pitchFamily="34" charset="0"/>
              </a:rPr>
              <a:t>'סביבה מחזיקה', לפי ויניקוט, הכרחית, גם אם אינה מספיקה, לקיום תהליך תרפויטי עם תוצאות.</a:t>
            </a:r>
          </a:p>
          <a:p>
            <a:pPr algn="r"/>
            <a:r>
              <a:rPr lang="he-IL" b="0" i="0" dirty="0">
                <a:solidFill>
                  <a:srgbClr val="4D5156"/>
                </a:solidFill>
                <a:effectLst/>
                <a:latin typeface="arial" panose="020B0604020202020204" pitchFamily="34" charset="0"/>
              </a:rPr>
              <a:t>בטיפול, הקשר הנרקם בין מטפל למטופל מהווה את מרבית הפונקציה של החזקה. כפי שאמא טובה דיה קשובה ומוכוונת לצרכיו הרגשיים של התינוק, כך נדרש גם המטפל להקשיב ולהתכוונן למטופל: האו מנהל בביטחון את החרדות, המצוקות וההגנות של המטופל.</a:t>
            </a:r>
          </a:p>
          <a:p>
            <a:pPr algn="r"/>
            <a:r>
              <a:rPr lang="he-IL" b="0" i="0" dirty="0">
                <a:solidFill>
                  <a:srgbClr val="4D5156"/>
                </a:solidFill>
                <a:effectLst/>
                <a:latin typeface="arial" panose="020B0604020202020204" pitchFamily="34" charset="0"/>
              </a:rPr>
              <a:t>בשביל להצליח- המדריכה צריכה לעבור תהליך פנימי של </a:t>
            </a:r>
            <a:r>
              <a:rPr lang="he-IL" b="0" i="0" dirty="0" err="1">
                <a:solidFill>
                  <a:srgbClr val="4D5156"/>
                </a:solidFill>
                <a:effectLst/>
                <a:latin typeface="arial" panose="020B0604020202020204" pitchFamily="34" charset="0"/>
              </a:rPr>
              <a:t>החשפות</a:t>
            </a:r>
            <a:r>
              <a:rPr lang="he-IL" b="0" i="0" dirty="0">
                <a:solidFill>
                  <a:srgbClr val="4D5156"/>
                </a:solidFill>
                <a:effectLst/>
                <a:latin typeface="arial" panose="020B0604020202020204" pitchFamily="34" charset="0"/>
              </a:rPr>
              <a:t> לכאבים שלה, לכשלנות, למצבי חוסר האונים שלה</a:t>
            </a:r>
          </a:p>
          <a:p>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10</a:t>
            </a:fld>
            <a:endParaRPr lang="he-IL"/>
          </a:p>
        </p:txBody>
      </p:sp>
    </p:spTree>
    <p:extLst>
      <p:ext uri="{BB962C8B-B14F-4D97-AF65-F5344CB8AC3E}">
        <p14:creationId xmlns:p14="http://schemas.microsoft.com/office/powerpoint/2010/main" val="3603520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תלות- וויניקוט- אין דבר כזה שתינוק קיים בעולם ללא הורה. אין דבר כזה תינוק, אלא רק תינוק ואמא/הורה</a:t>
            </a:r>
            <a:endParaRPr lang="en-US" sz="1900" dirty="0">
              <a:latin typeface="Calibri" panose="020F0502020204030204" pitchFamily="34" charset="0"/>
              <a:ea typeface="Calibri" panose="020F0502020204030204" pitchFamily="34" charset="0"/>
              <a:cs typeface="Arial" panose="020B0604020202020204" pitchFamily="34" charset="0"/>
            </a:endParaRPr>
          </a:p>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וויניקוט רואה את התפתחותו הרגשית של האדם כמסע מתמיד מתלות מוחלטת, לאי תלות, דהיינו- עצמאות</a:t>
            </a:r>
            <a:endParaRPr lang="en-US" sz="1900" dirty="0">
              <a:latin typeface="Calibri" panose="020F0502020204030204" pitchFamily="34" charset="0"/>
              <a:ea typeface="Calibri" panose="020F0502020204030204" pitchFamily="34" charset="0"/>
              <a:cs typeface="Arial" panose="020B0604020202020204" pitchFamily="34" charset="0"/>
            </a:endParaRPr>
          </a:p>
          <a:p>
            <a:pPr defTabSz="964783"/>
            <a:endPar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endParaRPr>
          </a:p>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התלות המוחלטת מתאפיינת בהיעדר המודעות של התינוק לתלות באימא,</a:t>
            </a:r>
            <a:endParaRPr lang="en-US" sz="1900" dirty="0">
              <a:latin typeface="Calibri" panose="020F0502020204030204" pitchFamily="34" charset="0"/>
              <a:ea typeface="Calibri" panose="020F0502020204030204" pitchFamily="34" charset="0"/>
              <a:cs typeface="Arial" panose="020B0604020202020204" pitchFamily="34" charset="0"/>
            </a:endParaRPr>
          </a:p>
          <a:p>
            <a:pPr defTabSz="964783"/>
            <a:r>
              <a:rPr lang="he-IL" dirty="0">
                <a:effectLst/>
                <a:cs typeface="Segoe UI Light" panose="020B0502040204020203" pitchFamily="34" charset="0"/>
              </a:rPr>
              <a:t>בעיני וויניקוט, תלות והחזקה הן מילות המפתח לא רק ביחסי הורה תינוק, הן מילות המפתח ביחסי סביבה ילד , ביחסי מטפל מטופל ואולי גם במרבית היחסים בין אדם לאדם</a:t>
            </a:r>
            <a:endParaRPr lang="en-US" dirty="0">
              <a:effectLst/>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יכולת להיות לבד, נובעות מנוכחות מיטיבה של אחר</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סמכות        גבולות</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מרחב       ואוטונומיה</a:t>
            </a:r>
            <a:endParaRPr lang="en-US" sz="1900" dirty="0">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11</a:t>
            </a:fld>
            <a:endParaRPr lang="he-IL"/>
          </a:p>
        </p:txBody>
      </p:sp>
    </p:spTree>
    <p:extLst>
      <p:ext uri="{BB962C8B-B14F-4D97-AF65-F5344CB8AC3E}">
        <p14:creationId xmlns:p14="http://schemas.microsoft.com/office/powerpoint/2010/main" val="1722289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צריך לדעת להשאיר את המרחב הנכון ולא לאיים עם החודרנות</a:t>
            </a:r>
          </a:p>
          <a:p>
            <a:pPr defTabSz="964783"/>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צריך לראות ולטפל פיזית בילד, האם הוא מגיע נקי? האם הוא אכל? האם הבגדים מותאמים למזג האוויר?</a:t>
            </a:r>
            <a:endParaRPr lang="en-US" sz="1900" dirty="0">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15</a:t>
            </a:fld>
            <a:endParaRPr lang="he-IL"/>
          </a:p>
        </p:txBody>
      </p:sp>
    </p:spTree>
    <p:extLst>
      <p:ext uri="{BB962C8B-B14F-4D97-AF65-F5344CB8AC3E}">
        <p14:creationId xmlns:p14="http://schemas.microsoft.com/office/powerpoint/2010/main" val="4250978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משמאל לימין- קשר עין, התאמת קצב, זמינות, טיפול מכיל, ג'וינט </a:t>
            </a:r>
            <a:r>
              <a:rPr lang="he-IL" dirty="0" err="1"/>
              <a:t>אטנשון</a:t>
            </a:r>
            <a:r>
              <a:rPr lang="he-IL" dirty="0"/>
              <a:t>, תיאום להלמות הלב</a:t>
            </a:r>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16</a:t>
            </a:fld>
            <a:endParaRPr lang="he-IL"/>
          </a:p>
        </p:txBody>
      </p:sp>
    </p:spTree>
    <p:extLst>
      <p:ext uri="{BB962C8B-B14F-4D97-AF65-F5344CB8AC3E}">
        <p14:creationId xmlns:p14="http://schemas.microsoft.com/office/powerpoint/2010/main" val="501659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17</a:t>
            </a:fld>
            <a:endParaRPr lang="he-IL"/>
          </a:p>
        </p:txBody>
      </p:sp>
    </p:spTree>
    <p:extLst>
      <p:ext uri="{BB962C8B-B14F-4D97-AF65-F5344CB8AC3E}">
        <p14:creationId xmlns:p14="http://schemas.microsoft.com/office/powerpoint/2010/main" val="3875815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יכולת האם לנכוח כשהילד זקוק לה, לא לפני ולא אחרי- בתוך הדינמיקה המיוחדת שנוצרת בין תינוק לאם, הדיוק הזה צריך להיות, </a:t>
            </a:r>
            <a:endParaRPr lang="en-US" sz="19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44"/>
              </a:spcAft>
              <a:tabLst>
                <a:tab pos="4901636" algn="l"/>
              </a:tabLst>
            </a:pPr>
            <a:r>
              <a:rPr lang="he-IL" sz="1900" dirty="0">
                <a:solidFill>
                  <a:srgbClr val="C00000"/>
                </a:solidFill>
                <a:latin typeface="Calibri" panose="020F0502020204030204" pitchFamily="34" charset="0"/>
                <a:ea typeface="Calibri" panose="020F0502020204030204" pitchFamily="34" charset="0"/>
                <a:cs typeface="Segoe UI Light" panose="020B0502040204020203" pitchFamily="34" charset="0"/>
              </a:rPr>
              <a:t>חשוב להדגיש כי נוכחות מוגברת או מופחת של האם, יהפכו את הילד לפסיבי- או שלא צריך לקרוא לה או שאין טעם לקרוא לה</a:t>
            </a:r>
            <a:endParaRPr lang="en-US" sz="1900" dirty="0">
              <a:latin typeface="Calibri" panose="020F0502020204030204" pitchFamily="34" charset="0"/>
              <a:ea typeface="Calibri" panose="020F0502020204030204" pitchFamily="34" charset="0"/>
              <a:cs typeface="Arial" panose="020B0604020202020204" pitchFamily="34" charset="0"/>
            </a:endParaRPr>
          </a:p>
          <a:p>
            <a:r>
              <a:rPr lang="he-IL" dirty="0"/>
              <a:t>נוכחות מותאמת</a:t>
            </a:r>
          </a:p>
        </p:txBody>
      </p:sp>
      <p:sp>
        <p:nvSpPr>
          <p:cNvPr id="4" name="מציין מיקום של מספר שקופית 3"/>
          <p:cNvSpPr>
            <a:spLocks noGrp="1"/>
          </p:cNvSpPr>
          <p:nvPr>
            <p:ph type="sldNum" sz="quarter" idx="5"/>
          </p:nvPr>
        </p:nvSpPr>
        <p:spPr/>
        <p:txBody>
          <a:bodyPr/>
          <a:lstStyle/>
          <a:p>
            <a:fld id="{0766512B-AE97-49B6-9B68-0DC406253736}" type="slidenum">
              <a:rPr lang="he-IL" smtClean="0"/>
              <a:t>18</a:t>
            </a:fld>
            <a:endParaRPr lang="he-IL"/>
          </a:p>
        </p:txBody>
      </p:sp>
    </p:spTree>
    <p:extLst>
      <p:ext uri="{BB962C8B-B14F-4D97-AF65-F5344CB8AC3E}">
        <p14:creationId xmlns:p14="http://schemas.microsoft.com/office/powerpoint/2010/main" val="1159034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C7D6E7-716E-4118-9F4D-9D91AF3710C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84605D16-3EAB-4F69-BE4B-B1D933DED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F34FED9-C0A7-4804-B32E-88CFA511D7AC}"/>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5" name="מציין מיקום של כותרת תחתונה 4">
            <a:extLst>
              <a:ext uri="{FF2B5EF4-FFF2-40B4-BE49-F238E27FC236}">
                <a16:creationId xmlns:a16="http://schemas.microsoft.com/office/drawing/2014/main" id="{5D1AC832-BA55-4D80-B1AC-FB81E01350D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50AA086-DFFC-410D-91D2-19B24D1EFCCF}"/>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1164796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326FFE-CA65-49F7-ABCE-A74C70B0D37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62B1E4C-571C-47FD-94FF-6C1B86DA59E5}"/>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9EA2D5D-E5AC-4DF5-907D-9FBF5A4F58D1}"/>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5" name="מציין מיקום של כותרת תחתונה 4">
            <a:extLst>
              <a:ext uri="{FF2B5EF4-FFF2-40B4-BE49-F238E27FC236}">
                <a16:creationId xmlns:a16="http://schemas.microsoft.com/office/drawing/2014/main" id="{94F9200B-1FC6-4828-AFFD-E6D06B0DB30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9B49975-5A5D-4EEF-8B73-F87450DB9060}"/>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3665897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2A99A4-2DBD-4EFF-953E-25D76F8842F9}"/>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532B97E-50AE-4456-817E-4AEA678E1E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C426FD5-889D-405E-9976-75589A37A279}"/>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5" name="מציין מיקום של כותרת תחתונה 4">
            <a:extLst>
              <a:ext uri="{FF2B5EF4-FFF2-40B4-BE49-F238E27FC236}">
                <a16:creationId xmlns:a16="http://schemas.microsoft.com/office/drawing/2014/main" id="{A41252FF-A862-4B6D-8063-9EC345B3C7E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2BD0E4D-7F0D-44C9-948B-388289126BAF}"/>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203438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392CD0-C4D6-42CE-BCB6-C182B5001E2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E739D2C-23A6-4EF1-98D3-AF43327C5365}"/>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FDF5DB47-7B7F-486F-AB8C-04024ECC0E44}"/>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86F0CB4D-CF8B-44FD-A34E-5B11ECF222A3}"/>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6" name="מציין מיקום של כותרת תחתונה 5">
            <a:extLst>
              <a:ext uri="{FF2B5EF4-FFF2-40B4-BE49-F238E27FC236}">
                <a16:creationId xmlns:a16="http://schemas.microsoft.com/office/drawing/2014/main" id="{A8D5DA8B-06D8-4218-B59E-ACC70B46FB65}"/>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4A5B87B-34C4-4C44-965B-2F39B0D06B5D}"/>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150622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0E16A42-1419-4825-B19F-0B9B51CB586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D23429E-7B42-43C5-8CFF-AD49D45DAF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8B72D5BB-B2F1-4121-BB3C-2872EEAEBD1E}"/>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997516AF-5CD7-44EB-9BD1-1B5FA0646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4D8E9CF0-6235-4801-9E65-80AFE55F3587}"/>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DAEFD11D-82AE-493A-A36A-C8F717494745}"/>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8" name="מציין מיקום של כותרת תחתונה 7">
            <a:extLst>
              <a:ext uri="{FF2B5EF4-FFF2-40B4-BE49-F238E27FC236}">
                <a16:creationId xmlns:a16="http://schemas.microsoft.com/office/drawing/2014/main" id="{53A9CC4F-5750-458D-ACEA-77B86050D2C3}"/>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C02C8FA-6A82-4215-9DF6-9EAEBAE95FA9}"/>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2081926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881D2D-4B3F-4F2C-9F2A-3E5A3BA188D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BBA9F6D2-1EBF-45B2-B62B-DB3F70B4D788}"/>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4" name="מציין מיקום של כותרת תחתונה 3">
            <a:extLst>
              <a:ext uri="{FF2B5EF4-FFF2-40B4-BE49-F238E27FC236}">
                <a16:creationId xmlns:a16="http://schemas.microsoft.com/office/drawing/2014/main" id="{0555715B-DA8B-4C71-B85D-39849DA44BE9}"/>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C842A543-A0CD-4D61-9A10-CD8019D40767}"/>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1550246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B2EFF0E-7241-40F6-956C-D476937BD68F}"/>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3" name="מציין מיקום של כותרת תחתונה 2">
            <a:extLst>
              <a:ext uri="{FF2B5EF4-FFF2-40B4-BE49-F238E27FC236}">
                <a16:creationId xmlns:a16="http://schemas.microsoft.com/office/drawing/2014/main" id="{880874FA-F805-4F89-B50B-BE173033C876}"/>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3ECC3B41-E7CE-4D69-82D0-DF434FEC78B4}"/>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332748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94B6A1-D025-4355-8703-7A66B513E66F}"/>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69178E3-6258-47B9-AD1A-8C378CB0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E54BACFA-6C4E-4F49-B111-748F5BD76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16310D43-E620-40FC-8390-B2D8B46C406B}"/>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6" name="מציין מיקום של כותרת תחתונה 5">
            <a:extLst>
              <a:ext uri="{FF2B5EF4-FFF2-40B4-BE49-F238E27FC236}">
                <a16:creationId xmlns:a16="http://schemas.microsoft.com/office/drawing/2014/main" id="{1CAAE5C0-6078-4342-A2E1-286FE0A746D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1CA30BB-C867-4E29-ADBB-15B4E8B884D9}"/>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1474171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842086E-852D-4AAA-9FDB-002164A71D4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8FB2A5F7-4D6A-45EB-8CC6-735585144C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1D18355D-F995-4998-814F-75A0C79FE1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1836716-920B-4F8B-988C-A6965A7517E4}"/>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6" name="מציין מיקום של כותרת תחתונה 5">
            <a:extLst>
              <a:ext uri="{FF2B5EF4-FFF2-40B4-BE49-F238E27FC236}">
                <a16:creationId xmlns:a16="http://schemas.microsoft.com/office/drawing/2014/main" id="{D7500072-E54F-482C-9E49-2B149A3403E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FF6752F-5C78-447C-A837-1B87806ACAA8}"/>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310345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37F24D-316A-46DF-9ABB-F15176D8BA6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CF1A74F-0F23-4E34-8578-2A6FA6B7D027}"/>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637737B-DEB9-4117-BD0E-C5180215A09B}"/>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5" name="מציין מיקום של כותרת תחתונה 4">
            <a:extLst>
              <a:ext uri="{FF2B5EF4-FFF2-40B4-BE49-F238E27FC236}">
                <a16:creationId xmlns:a16="http://schemas.microsoft.com/office/drawing/2014/main" id="{295BFEA3-F611-49EE-A6BE-7AA0E8FA9BD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7B12569-4714-43ED-B425-806D65B70698}"/>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2563659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DC9AFE62-73C0-4F37-9F5B-E0D8FD16EA8B}"/>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131B425-ED05-4626-B0E2-597FE1D0636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797419C-A2C4-492E-9E1D-B7CEBAF85476}"/>
              </a:ext>
            </a:extLst>
          </p:cNvPr>
          <p:cNvSpPr>
            <a:spLocks noGrp="1"/>
          </p:cNvSpPr>
          <p:nvPr>
            <p:ph type="dt" sz="half" idx="10"/>
          </p:nvPr>
        </p:nvSpPr>
        <p:spPr/>
        <p:txBody>
          <a:bodyPr/>
          <a:lstStyle/>
          <a:p>
            <a:fld id="{9816E4A5-A767-4260-A4BB-9B91CDEDF860}" type="datetimeFigureOut">
              <a:rPr lang="he-IL" smtClean="0"/>
              <a:t>י"ז/שבט/תשפ"ב</a:t>
            </a:fld>
            <a:endParaRPr lang="he-IL"/>
          </a:p>
        </p:txBody>
      </p:sp>
      <p:sp>
        <p:nvSpPr>
          <p:cNvPr id="5" name="מציין מיקום של כותרת תחתונה 4">
            <a:extLst>
              <a:ext uri="{FF2B5EF4-FFF2-40B4-BE49-F238E27FC236}">
                <a16:creationId xmlns:a16="http://schemas.microsoft.com/office/drawing/2014/main" id="{143D2C9A-2305-4E2E-9128-0872AA350AB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BB73008-452F-417D-AD73-C9FAA8A439F8}"/>
              </a:ext>
            </a:extLst>
          </p:cNvPr>
          <p:cNvSpPr>
            <a:spLocks noGrp="1"/>
          </p:cNvSpPr>
          <p:nvPr>
            <p:ph type="sldNum" sz="quarter" idx="12"/>
          </p:nvPr>
        </p:nvSpPr>
        <p:spPr/>
        <p:txBody>
          <a:bodyPr/>
          <a:lstStyle/>
          <a:p>
            <a:fld id="{3B533955-8B99-4D57-B84C-B5133DBDEA86}" type="slidenum">
              <a:rPr lang="he-IL" smtClean="0"/>
              <a:t>‹#›</a:t>
            </a:fld>
            <a:endParaRPr lang="he-IL"/>
          </a:p>
        </p:txBody>
      </p:sp>
    </p:spTree>
    <p:extLst>
      <p:ext uri="{BB962C8B-B14F-4D97-AF65-F5344CB8AC3E}">
        <p14:creationId xmlns:p14="http://schemas.microsoft.com/office/powerpoint/2010/main" val="3139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72B6330-7DB0-45A5-8D14-B0847FB3C474}"/>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0CB2E89-DBF9-43C5-A9A1-7BBB7E6DD252}"/>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B04D632-DA53-43D6-B82A-87D31C9B2A05}"/>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816E4A5-A767-4260-A4BB-9B91CDEDF860}" type="datetimeFigureOut">
              <a:rPr lang="he-IL" smtClean="0"/>
              <a:t>י"ז/שבט/תשפ"ב</a:t>
            </a:fld>
            <a:endParaRPr lang="he-IL"/>
          </a:p>
        </p:txBody>
      </p:sp>
      <p:sp>
        <p:nvSpPr>
          <p:cNvPr id="5" name="מציין מיקום של כותרת תחתונה 4">
            <a:extLst>
              <a:ext uri="{FF2B5EF4-FFF2-40B4-BE49-F238E27FC236}">
                <a16:creationId xmlns:a16="http://schemas.microsoft.com/office/drawing/2014/main" id="{51D86400-155C-498C-A1D3-56EF2A384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C8C908DA-F237-46C0-BB2B-FDCB73A949C5}"/>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3B533955-8B99-4D57-B84C-B5133DBDEA86}" type="slidenum">
              <a:rPr lang="he-IL" smtClean="0"/>
              <a:t>‹#›</a:t>
            </a:fld>
            <a:endParaRPr lang="he-IL"/>
          </a:p>
        </p:txBody>
      </p:sp>
    </p:spTree>
    <p:extLst>
      <p:ext uri="{BB962C8B-B14F-4D97-AF65-F5344CB8AC3E}">
        <p14:creationId xmlns:p14="http://schemas.microsoft.com/office/powerpoint/2010/main" val="2477791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68DFD02A-A209-4E26-B5B0-61D372B73138}"/>
              </a:ext>
            </a:extLst>
          </p:cNvPr>
          <p:cNvSpPr>
            <a:spLocks noGrp="1"/>
          </p:cNvSpPr>
          <p:nvPr>
            <p:ph type="ctrTitle"/>
          </p:nvPr>
        </p:nvSpPr>
        <p:spPr>
          <a:xfrm>
            <a:off x="3045368" y="2043663"/>
            <a:ext cx="6105194" cy="2031055"/>
          </a:xfrm>
        </p:spPr>
        <p:txBody>
          <a:bodyPr>
            <a:normAutofit/>
          </a:bodyPr>
          <a:lstStyle/>
          <a:p>
            <a:r>
              <a:rPr lang="he-IL" dirty="0">
                <a:solidFill>
                  <a:srgbClr val="FFFFFF"/>
                </a:solidFill>
                <a:latin typeface="Segoe UI Light" panose="020B0502040204020203" pitchFamily="34" charset="0"/>
                <a:cs typeface="Segoe UI Light" panose="020B0502040204020203" pitchFamily="34" charset="0"/>
              </a:rPr>
              <a:t>פדגוגיה טיפולית בגיל הרך</a:t>
            </a:r>
          </a:p>
        </p:txBody>
      </p:sp>
      <p:sp>
        <p:nvSpPr>
          <p:cNvPr id="3" name="כותרת משנה 2">
            <a:extLst>
              <a:ext uri="{FF2B5EF4-FFF2-40B4-BE49-F238E27FC236}">
                <a16:creationId xmlns:a16="http://schemas.microsoft.com/office/drawing/2014/main" id="{AD3DDA08-404D-4783-AB9C-81246DF65B59}"/>
              </a:ext>
            </a:extLst>
          </p:cNvPr>
          <p:cNvSpPr>
            <a:spLocks noGrp="1"/>
          </p:cNvSpPr>
          <p:nvPr>
            <p:ph type="subTitle" idx="1"/>
          </p:nvPr>
        </p:nvSpPr>
        <p:spPr>
          <a:xfrm>
            <a:off x="3045368" y="4074718"/>
            <a:ext cx="6105194" cy="682079"/>
          </a:xfrm>
        </p:spPr>
        <p:txBody>
          <a:bodyPr>
            <a:noAutofit/>
          </a:bodyPr>
          <a:lstStyle/>
          <a:p>
            <a:r>
              <a:rPr lang="he-IL">
                <a:solidFill>
                  <a:srgbClr val="FFFFFF"/>
                </a:solidFill>
                <a:latin typeface="Segoe UI Light" panose="020B0502040204020203" pitchFamily="34" charset="0"/>
                <a:cs typeface="Segoe UI Light" panose="020B0502040204020203" pitchFamily="34" charset="0"/>
              </a:rPr>
              <a:t>מפגש של רכזות תכנית אור עם תיאורית "הפדגוגיה הטיפולית"</a:t>
            </a:r>
            <a:endParaRPr lang="he-IL" dirty="0">
              <a:solidFill>
                <a:srgbClr val="FFFFFF"/>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58809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כותרת 1">
            <a:extLst>
              <a:ext uri="{FF2B5EF4-FFF2-40B4-BE49-F238E27FC236}">
                <a16:creationId xmlns:a16="http://schemas.microsoft.com/office/drawing/2014/main" id="{A4CAA51F-C80B-4438-A3E0-044E58DA0EF9}"/>
              </a:ext>
            </a:extLst>
          </p:cNvPr>
          <p:cNvSpPr>
            <a:spLocks noGrp="1"/>
          </p:cNvSpPr>
          <p:nvPr>
            <p:ph type="title"/>
          </p:nvPr>
        </p:nvSpPr>
        <p:spPr>
          <a:xfrm>
            <a:off x="804998" y="798445"/>
            <a:ext cx="4803636" cy="1311664"/>
          </a:xfrm>
        </p:spPr>
        <p:txBody>
          <a:bodyPr>
            <a:normAutofit/>
          </a:bodyPr>
          <a:lstStyle/>
          <a:p>
            <a:r>
              <a:rPr lang="he-IL">
                <a:solidFill>
                  <a:srgbClr val="000000"/>
                </a:solidFill>
                <a:latin typeface="Segoe UI Light" panose="020B0502040204020203" pitchFamily="34" charset="0"/>
                <a:cs typeface="Segoe UI Light" panose="020B0502040204020203" pitchFamily="34" charset="0"/>
              </a:rPr>
              <a:t>מושגים  ממשנתו של וויניקוט</a:t>
            </a:r>
          </a:p>
        </p:txBody>
      </p:sp>
      <p:sp>
        <p:nvSpPr>
          <p:cNvPr id="3" name="מציין מיקום תוכן 2">
            <a:extLst>
              <a:ext uri="{FF2B5EF4-FFF2-40B4-BE49-F238E27FC236}">
                <a16:creationId xmlns:a16="http://schemas.microsoft.com/office/drawing/2014/main" id="{8DA0237E-32E9-40BD-B4BD-B44D27DB11C0}"/>
              </a:ext>
            </a:extLst>
          </p:cNvPr>
          <p:cNvSpPr>
            <a:spLocks noGrp="1"/>
          </p:cNvSpPr>
          <p:nvPr>
            <p:ph idx="1"/>
          </p:nvPr>
        </p:nvSpPr>
        <p:spPr>
          <a:xfrm>
            <a:off x="804997" y="2272143"/>
            <a:ext cx="4706803" cy="3788830"/>
          </a:xfrm>
        </p:spPr>
        <p:txBody>
          <a:bodyPr anchor="ctr">
            <a:normAutofit/>
          </a:bodyPr>
          <a:lstStyle/>
          <a:p>
            <a:r>
              <a:rPr lang="he-IL" sz="2000" b="0" i="0" dirty="0">
                <a:solidFill>
                  <a:srgbClr val="000000"/>
                </a:solidFill>
                <a:effectLst/>
                <a:latin typeface="Segoe UI Light" panose="020B0502040204020203" pitchFamily="34" charset="0"/>
                <a:cs typeface="Segoe UI Light" panose="020B0502040204020203" pitchFamily="34" charset="0"/>
              </a:rPr>
              <a:t>דונלד וויניקוט (1896-1971) נולד באנגליה למשפחה אמידה, חמה ואוהבת. החל מגיל 14 למד בפנימיות והצטיין חברתית ולימודית. בגיל 16, לאחר ששבר את עצם צווארו, החליט להיות רופא והחל את לימודיו. כסטודנט לרפואה היה פטור מגיוס למלה"ע הראשונה, אך מותם של כמה מחבריו במלחמה הביא לתחושות אשמה ומחויבות והוא התנדב לצבא ושירת כקצין רפואה. לאחר שקרא וויניקוט את "פשר החלומות" של זיגמונד פרויד, החל להתעניין בילדים ובחר להתמחות ברפואת ילדים.</a:t>
            </a:r>
            <a:endParaRPr lang="he-IL" sz="2000" dirty="0">
              <a:solidFill>
                <a:srgbClr val="000000"/>
              </a:solidFill>
              <a:latin typeface="Segoe UI Light" panose="020B0502040204020203" pitchFamily="34" charset="0"/>
              <a:cs typeface="Segoe UI Light" panose="020B0502040204020203" pitchFamily="34" charset="0"/>
            </a:endParaRPr>
          </a:p>
        </p:txBody>
      </p:sp>
      <p:sp>
        <p:nvSpPr>
          <p:cNvPr id="7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146" name="Picture 2" descr="ויניקוט: האיש ששחרר אמהות מלהיות מושלמות - פסיכולוגים גדולים על ...">
            <a:extLst>
              <a:ext uri="{FF2B5EF4-FFF2-40B4-BE49-F238E27FC236}">
                <a16:creationId xmlns:a16="http://schemas.microsoft.com/office/drawing/2014/main" id="{13CB6350-99E2-4444-B3C8-3BDD80CA6A6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375" r="2" b="2"/>
          <a:stretch/>
        </p:blipFill>
        <p:spPr bwMode="auto">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735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22">
            <a:extLst>
              <a:ext uri="{FF2B5EF4-FFF2-40B4-BE49-F238E27FC236}">
                <a16:creationId xmlns:a16="http://schemas.microsoft.com/office/drawing/2014/main" id="{2CCAFB3E-E6E2-4587-A5FC-061F9AED9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912600"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2" name="Picture 24">
            <a:extLst>
              <a:ext uri="{FF2B5EF4-FFF2-40B4-BE49-F238E27FC236}">
                <a16:creationId xmlns:a16="http://schemas.microsoft.com/office/drawing/2014/main" id="{5975841F-9161-4650-BCE5-20FFE7E296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9933" t="3964" b="3964"/>
          <a:stretch/>
        </p:blipFill>
        <p:spPr>
          <a:xfrm>
            <a:off x="575867" y="1"/>
            <a:ext cx="6629806"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כותרת 1">
            <a:extLst>
              <a:ext uri="{FF2B5EF4-FFF2-40B4-BE49-F238E27FC236}">
                <a16:creationId xmlns:a16="http://schemas.microsoft.com/office/drawing/2014/main" id="{AE04091E-DD5A-4B98-A484-0A82273D047B}"/>
              </a:ext>
            </a:extLst>
          </p:cNvPr>
          <p:cNvSpPr>
            <a:spLocks noGrp="1"/>
          </p:cNvSpPr>
          <p:nvPr>
            <p:ph type="ctrTitle"/>
          </p:nvPr>
        </p:nvSpPr>
        <p:spPr>
          <a:xfrm>
            <a:off x="726057" y="3121701"/>
            <a:ext cx="3658053" cy="1786515"/>
          </a:xfrm>
        </p:spPr>
        <p:txBody>
          <a:bodyPr anchor="t">
            <a:normAutofit/>
          </a:bodyPr>
          <a:lstStyle/>
          <a:p>
            <a:pPr algn="l"/>
            <a:r>
              <a:rPr lang="he-IL" sz="4400" dirty="0">
                <a:solidFill>
                  <a:srgbClr val="FFFFFF"/>
                </a:solidFill>
                <a:latin typeface="Segoe UI Light" panose="020B0502040204020203" pitchFamily="34" charset="0"/>
                <a:cs typeface="Segoe UI Light" panose="020B0502040204020203" pitchFamily="34" charset="0"/>
              </a:rPr>
              <a:t>תפקיד גן הילדים</a:t>
            </a:r>
          </a:p>
        </p:txBody>
      </p:sp>
      <p:sp>
        <p:nvSpPr>
          <p:cNvPr id="3" name="כותרת משנה 2">
            <a:extLst>
              <a:ext uri="{FF2B5EF4-FFF2-40B4-BE49-F238E27FC236}">
                <a16:creationId xmlns:a16="http://schemas.microsoft.com/office/drawing/2014/main" id="{04C93440-39D4-4B08-900B-77C19201CDAE}"/>
              </a:ext>
            </a:extLst>
          </p:cNvPr>
          <p:cNvSpPr>
            <a:spLocks noGrp="1"/>
          </p:cNvSpPr>
          <p:nvPr>
            <p:ph type="subTitle" idx="1"/>
          </p:nvPr>
        </p:nvSpPr>
        <p:spPr>
          <a:xfrm>
            <a:off x="726057" y="2032347"/>
            <a:ext cx="3658053" cy="955111"/>
          </a:xfrm>
        </p:spPr>
        <p:txBody>
          <a:bodyPr anchor="b">
            <a:normAutofit/>
          </a:bodyPr>
          <a:lstStyle/>
          <a:p>
            <a:pPr algn="l"/>
            <a:r>
              <a:rPr lang="he-IL" sz="1800" dirty="0">
                <a:solidFill>
                  <a:srgbClr val="FFFFFF"/>
                </a:solidFill>
                <a:latin typeface="Segoe UI Light" panose="020B0502040204020203" pitchFamily="34" charset="0"/>
                <a:cs typeface="Segoe UI Light" panose="020B0502040204020203" pitchFamily="34" charset="0"/>
              </a:rPr>
              <a:t>תפקידנו בתוכנית אור</a:t>
            </a:r>
          </a:p>
        </p:txBody>
      </p:sp>
      <p:sp>
        <p:nvSpPr>
          <p:cNvPr id="33" name="Rectangle 26">
            <a:extLst>
              <a:ext uri="{FF2B5EF4-FFF2-40B4-BE49-F238E27FC236}">
                <a16:creationId xmlns:a16="http://schemas.microsoft.com/office/drawing/2014/main" id="{640086A0-762B-44EE-AA70-A7268A72A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262" y="0"/>
            <a:ext cx="590073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תמונה 4" descr="תמונה שמכילה טקסט, מקורה, שולחן&#10;&#10;התיאור נוצר באופן אוטומטי">
            <a:extLst>
              <a:ext uri="{FF2B5EF4-FFF2-40B4-BE49-F238E27FC236}">
                <a16:creationId xmlns:a16="http://schemas.microsoft.com/office/drawing/2014/main" id="{20E0084E-8A25-4DA4-AFD9-7E8A99D713A5}"/>
              </a:ext>
            </a:extLst>
          </p:cNvPr>
          <p:cNvPicPr>
            <a:picLocks noChangeAspect="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t="-1" b="51281"/>
          <a:stretch/>
        </p:blipFill>
        <p:spPr>
          <a:xfrm>
            <a:off x="5900739" y="722274"/>
            <a:ext cx="6094862" cy="4632960"/>
          </a:xfrm>
          <a:custGeom>
            <a:avLst/>
            <a:gdLst/>
            <a:ahLst/>
            <a:cxnLst/>
            <a:rect l="l" t="t" r="r" b="b"/>
            <a:pathLst>
              <a:path w="5017317" h="5380277">
                <a:moveTo>
                  <a:pt x="0" y="0"/>
                </a:moveTo>
                <a:lnTo>
                  <a:pt x="5017317" y="0"/>
                </a:lnTo>
                <a:lnTo>
                  <a:pt x="5017317" y="5380277"/>
                </a:lnTo>
                <a:lnTo>
                  <a:pt x="0" y="5380277"/>
                </a:lnTo>
                <a:close/>
              </a:path>
            </a:pathLst>
          </a:custGeom>
        </p:spPr>
      </p:pic>
      <p:sp>
        <p:nvSpPr>
          <p:cNvPr id="7" name="תיבת טקסט 6">
            <a:extLst>
              <a:ext uri="{FF2B5EF4-FFF2-40B4-BE49-F238E27FC236}">
                <a16:creationId xmlns:a16="http://schemas.microsoft.com/office/drawing/2014/main" id="{38F4B0F7-0BAA-46ED-9A08-6A78704E57E9}"/>
              </a:ext>
            </a:extLst>
          </p:cNvPr>
          <p:cNvSpPr txBox="1"/>
          <p:nvPr/>
        </p:nvSpPr>
        <p:spPr>
          <a:xfrm>
            <a:off x="4322445" y="5042459"/>
            <a:ext cx="1245235" cy="1200329"/>
          </a:xfrm>
          <a:prstGeom prst="rect">
            <a:avLst/>
          </a:prstGeom>
          <a:noFill/>
        </p:spPr>
        <p:txBody>
          <a:bodyPr wrap="square" rtlCol="1">
            <a:spAutoFit/>
          </a:bodyPr>
          <a:lstStyle/>
          <a:p>
            <a:r>
              <a:rPr lang="he-IL" dirty="0">
                <a:latin typeface="Segoe UI Light" panose="020B0502040204020203" pitchFamily="34" charset="0"/>
                <a:cs typeface="Segoe UI Light" panose="020B0502040204020203" pitchFamily="34" charset="0"/>
              </a:rPr>
              <a:t>הילד, משפחתו וסביבתו, </a:t>
            </a:r>
            <a:r>
              <a:rPr lang="he-IL" dirty="0" err="1">
                <a:latin typeface="Segoe UI Light" panose="020B0502040204020203" pitchFamily="34" charset="0"/>
                <a:cs typeface="Segoe UI Light" panose="020B0502040204020203" pitchFamily="34" charset="0"/>
              </a:rPr>
              <a:t>עמ</a:t>
            </a:r>
            <a:r>
              <a:rPr lang="he-IL" dirty="0">
                <a:latin typeface="Segoe UI Light" panose="020B0502040204020203" pitchFamily="34" charset="0"/>
                <a:cs typeface="Segoe UI Light" panose="020B0502040204020203" pitchFamily="34" charset="0"/>
              </a:rPr>
              <a:t>. 154</a:t>
            </a:r>
          </a:p>
        </p:txBody>
      </p:sp>
    </p:spTree>
    <p:extLst>
      <p:ext uri="{BB962C8B-B14F-4D97-AF65-F5344CB8AC3E}">
        <p14:creationId xmlns:p14="http://schemas.microsoft.com/office/powerpoint/2010/main" val="233909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תמונה 1" descr="מ. ס. אשר">
            <a:extLst>
              <a:ext uri="{FF2B5EF4-FFF2-40B4-BE49-F238E27FC236}">
                <a16:creationId xmlns:a16="http://schemas.microsoft.com/office/drawing/2014/main" id="{FE58E705-1947-46E6-BA58-A4400343C9D9}"/>
              </a:ext>
            </a:extLst>
          </p:cNvPr>
          <p:cNvPicPr/>
          <p:nvPr/>
        </p:nvPicPr>
        <p:blipFill rotWithShape="1">
          <a:blip r:embed="rId3">
            <a:extLst>
              <a:ext uri="{28A0092B-C50C-407E-A947-70E740481C1C}">
                <a14:useLocalDpi xmlns:a14="http://schemas.microsoft.com/office/drawing/2010/main" val="0"/>
              </a:ext>
            </a:extLst>
          </a:blip>
          <a:srcRect b="2192"/>
          <a:stretch/>
        </p:blipFill>
        <p:spPr bwMode="auto">
          <a:xfrm>
            <a:off x="20" y="-193927"/>
            <a:ext cx="12191980" cy="6856718"/>
          </a:xfrm>
          <a:prstGeom prst="rect">
            <a:avLst/>
          </a:prstGeom>
          <a:noFill/>
        </p:spPr>
      </p:pic>
    </p:spTree>
    <p:extLst>
      <p:ext uri="{BB962C8B-B14F-4D97-AF65-F5344CB8AC3E}">
        <p14:creationId xmlns:p14="http://schemas.microsoft.com/office/powerpoint/2010/main" val="1403827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751310AB-89A6-43D5-82E7-98DA75DC2BA1}"/>
              </a:ext>
            </a:extLst>
          </p:cNvPr>
          <p:cNvSpPr>
            <a:spLocks noGrp="1"/>
          </p:cNvSpPr>
          <p:nvPr>
            <p:ph type="title"/>
          </p:nvPr>
        </p:nvSpPr>
        <p:spPr>
          <a:xfrm>
            <a:off x="640079" y="2053641"/>
            <a:ext cx="3669161" cy="2760098"/>
          </a:xfrm>
        </p:spPr>
        <p:txBody>
          <a:bodyPr>
            <a:normAutofit/>
          </a:bodyPr>
          <a:lstStyle/>
          <a:p>
            <a:r>
              <a:rPr lang="he-IL" dirty="0">
                <a:solidFill>
                  <a:srgbClr val="FFFFFF"/>
                </a:solidFill>
                <a:latin typeface="Segoe UI Light" panose="020B0502040204020203" pitchFamily="34" charset="0"/>
                <a:cs typeface="Segoe UI Light" panose="020B0502040204020203" pitchFamily="34" charset="0"/>
              </a:rPr>
              <a:t>מרחב פוטנציאלי</a:t>
            </a:r>
          </a:p>
        </p:txBody>
      </p:sp>
      <p:sp>
        <p:nvSpPr>
          <p:cNvPr id="3" name="מציין מיקום תוכן 2">
            <a:extLst>
              <a:ext uri="{FF2B5EF4-FFF2-40B4-BE49-F238E27FC236}">
                <a16:creationId xmlns:a16="http://schemas.microsoft.com/office/drawing/2014/main" id="{558120F1-9684-47D0-92DB-AAE06588EDC7}"/>
              </a:ext>
            </a:extLst>
          </p:cNvPr>
          <p:cNvSpPr>
            <a:spLocks noGrp="1"/>
          </p:cNvSpPr>
          <p:nvPr>
            <p:ph idx="1"/>
          </p:nvPr>
        </p:nvSpPr>
        <p:spPr>
          <a:xfrm>
            <a:off x="6090574" y="801866"/>
            <a:ext cx="5306084" cy="5230634"/>
          </a:xfrm>
        </p:spPr>
        <p:txBody>
          <a:bodyPr anchor="ctr">
            <a:normAutofit/>
          </a:bodyPr>
          <a:lstStyle/>
          <a:p>
            <a:r>
              <a:rPr lang="he-IL" dirty="0">
                <a:solidFill>
                  <a:srgbClr val="000000"/>
                </a:solidFill>
                <a:latin typeface="Segoe UI Light" panose="020B0502040204020203" pitchFamily="34" charset="0"/>
                <a:cs typeface="Segoe UI Light" panose="020B0502040204020203" pitchFamily="34" charset="0"/>
              </a:rPr>
              <a:t>מרחב שבו הזמן הוא נזיל</a:t>
            </a:r>
          </a:p>
          <a:p>
            <a:r>
              <a:rPr lang="he-IL" dirty="0">
                <a:solidFill>
                  <a:srgbClr val="000000"/>
                </a:solidFill>
                <a:latin typeface="Segoe UI Light" panose="020B0502040204020203" pitchFamily="34" charset="0"/>
                <a:cs typeface="Segoe UI Light" panose="020B0502040204020203" pitchFamily="34" charset="0"/>
              </a:rPr>
              <a:t>מרחב שבו נמצאים ולא נמצאים</a:t>
            </a:r>
          </a:p>
          <a:p>
            <a:r>
              <a:rPr lang="he-IL" dirty="0">
                <a:solidFill>
                  <a:srgbClr val="000000"/>
                </a:solidFill>
                <a:latin typeface="Segoe UI Light" panose="020B0502040204020203" pitchFamily="34" charset="0"/>
                <a:cs typeface="Segoe UI Light" panose="020B0502040204020203" pitchFamily="34" charset="0"/>
              </a:rPr>
              <a:t>מרחב שהוא המציאות, אבל גם איננו המציאות</a:t>
            </a:r>
          </a:p>
          <a:p>
            <a:r>
              <a:rPr lang="he-IL" dirty="0">
                <a:solidFill>
                  <a:srgbClr val="000000"/>
                </a:solidFill>
                <a:latin typeface="Segoe UI Light" panose="020B0502040204020203" pitchFamily="34" charset="0"/>
                <a:cs typeface="Segoe UI Light" panose="020B0502040204020203" pitchFamily="34" charset="0"/>
              </a:rPr>
              <a:t>מרחב שבו המוקד הוא התהליך</a:t>
            </a:r>
          </a:p>
          <a:p>
            <a:r>
              <a:rPr lang="he-IL" dirty="0">
                <a:solidFill>
                  <a:srgbClr val="000000"/>
                </a:solidFill>
                <a:latin typeface="Segoe UI Light" panose="020B0502040204020203" pitchFamily="34" charset="0"/>
                <a:cs typeface="Segoe UI Light" panose="020B0502040204020203" pitchFamily="34" charset="0"/>
              </a:rPr>
              <a:t>מרחב שבו משחק בין זהות, חיבור ונפרדות</a:t>
            </a:r>
          </a:p>
          <a:p>
            <a:r>
              <a:rPr lang="he-IL" dirty="0">
                <a:solidFill>
                  <a:srgbClr val="000000"/>
                </a:solidFill>
                <a:latin typeface="Segoe UI Light" panose="020B0502040204020203" pitchFamily="34" charset="0"/>
                <a:cs typeface="Segoe UI Light" panose="020B0502040204020203" pitchFamily="34" charset="0"/>
              </a:rPr>
              <a:t>מרחב שעשוי להפוך לאובייקט מעברי, סמל של אמון ואחדות בין תינוק לאימו או בין מדריכה לילד</a:t>
            </a:r>
          </a:p>
          <a:p>
            <a:pPr marL="0" indent="0">
              <a:buNone/>
            </a:pPr>
            <a:endParaRPr lang="he-IL" dirty="0">
              <a:solidFill>
                <a:srgbClr val="000000"/>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058238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atMod val="150000"/>
                <a:shade val="98000"/>
                <a:lumMod val="102000"/>
              </a:schemeClr>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2509F26-B5DC-4BA7-B476-4CB04423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Impact" panose="020B0806030902050204"/>
              <a:ea typeface="+mn-ea"/>
              <a:cs typeface="+mn-cs"/>
            </a:endParaRPr>
          </a:p>
        </p:txBody>
      </p:sp>
      <p:sp>
        <p:nvSpPr>
          <p:cNvPr id="75" name="Rectangle 74">
            <a:extLst>
              <a:ext uri="{FF2B5EF4-FFF2-40B4-BE49-F238E27FC236}">
                <a16:creationId xmlns:a16="http://schemas.microsoft.com/office/drawing/2014/main" id="{DB103EB1-B135-4526-B883-33228FC27F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80000">
            <a:off x="815340" y="683404"/>
            <a:ext cx="10561320" cy="5404104"/>
          </a:xfrm>
          <a:prstGeom prst="rect">
            <a:avLst/>
          </a:prstGeom>
          <a:solidFill>
            <a:srgbClr val="FFFFFF"/>
          </a:solidFill>
          <a:ln w="3175" cap="sq" cmpd="thinThick">
            <a:solidFill>
              <a:srgbClr val="DDDDDD"/>
            </a:solidFill>
            <a:miter lim="800000"/>
          </a:ln>
          <a:effectLst>
            <a:outerShdw blurRad="2667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Impact" panose="020B0806030902050204"/>
              <a:ea typeface="+mn-ea"/>
              <a:cs typeface="+mn-cs"/>
            </a:endParaRPr>
          </a:p>
        </p:txBody>
      </p:sp>
      <p:pic>
        <p:nvPicPr>
          <p:cNvPr id="7172" name="Picture 4" descr="טיפים לציורים - 20-|אשליה אופטית| - Wattpad">
            <a:extLst>
              <a:ext uri="{FF2B5EF4-FFF2-40B4-BE49-F238E27FC236}">
                <a16:creationId xmlns:a16="http://schemas.microsoft.com/office/drawing/2014/main" id="{7740F696-8C42-4C2B-8415-11DC30F853B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1" b="5408"/>
          <a:stretch/>
        </p:blipFill>
        <p:spPr bwMode="auto">
          <a:xfrm rot="21480000">
            <a:off x="1137837" y="993098"/>
            <a:ext cx="9916327" cy="4764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08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751310AB-89A6-43D5-82E7-98DA75DC2BA1}"/>
              </a:ext>
            </a:extLst>
          </p:cNvPr>
          <p:cNvSpPr>
            <a:spLocks noGrp="1"/>
          </p:cNvSpPr>
          <p:nvPr>
            <p:ph type="title"/>
          </p:nvPr>
        </p:nvSpPr>
        <p:spPr>
          <a:xfrm>
            <a:off x="640079" y="2053641"/>
            <a:ext cx="3669161" cy="2760098"/>
          </a:xfrm>
        </p:spPr>
        <p:txBody>
          <a:bodyPr>
            <a:normAutofit/>
          </a:bodyPr>
          <a:lstStyle/>
          <a:p>
            <a:r>
              <a:rPr lang="he-IL" dirty="0">
                <a:solidFill>
                  <a:srgbClr val="FFFFFF"/>
                </a:solidFill>
                <a:latin typeface="Segoe UI Light" panose="020B0502040204020203" pitchFamily="34" charset="0"/>
                <a:cs typeface="Segoe UI Light" panose="020B0502040204020203" pitchFamily="34" charset="0"/>
              </a:rPr>
              <a:t>מרחב פוטנציאלי</a:t>
            </a:r>
          </a:p>
        </p:txBody>
      </p:sp>
      <p:sp>
        <p:nvSpPr>
          <p:cNvPr id="3" name="מציין מיקום תוכן 2">
            <a:extLst>
              <a:ext uri="{FF2B5EF4-FFF2-40B4-BE49-F238E27FC236}">
                <a16:creationId xmlns:a16="http://schemas.microsoft.com/office/drawing/2014/main" id="{558120F1-9684-47D0-92DB-AAE06588EDC7}"/>
              </a:ext>
            </a:extLst>
          </p:cNvPr>
          <p:cNvSpPr>
            <a:spLocks noGrp="1"/>
          </p:cNvSpPr>
          <p:nvPr>
            <p:ph idx="1"/>
          </p:nvPr>
        </p:nvSpPr>
        <p:spPr>
          <a:xfrm>
            <a:off x="6090574" y="801866"/>
            <a:ext cx="5306084" cy="5230634"/>
          </a:xfrm>
        </p:spPr>
        <p:txBody>
          <a:bodyPr anchor="ctr">
            <a:normAutofit/>
          </a:bodyPr>
          <a:lstStyle/>
          <a:p>
            <a:r>
              <a:rPr lang="he-IL" sz="3200" dirty="0">
                <a:solidFill>
                  <a:srgbClr val="000000"/>
                </a:solidFill>
                <a:latin typeface="Segoe UI Light" panose="020B0502040204020203" pitchFamily="34" charset="0"/>
                <a:cs typeface="Segoe UI Light" panose="020B0502040204020203" pitchFamily="34" charset="0"/>
              </a:rPr>
              <a:t>יש חשיבות גדולה למשחק וליכולת של המדריכה לשחק</a:t>
            </a:r>
          </a:p>
          <a:p>
            <a:r>
              <a:rPr lang="he-IL" sz="3200" dirty="0">
                <a:solidFill>
                  <a:srgbClr val="000000"/>
                </a:solidFill>
                <a:latin typeface="Segoe UI Light" panose="020B0502040204020203" pitchFamily="34" charset="0"/>
                <a:cs typeface="Segoe UI Light" panose="020B0502040204020203" pitchFamily="34" charset="0"/>
              </a:rPr>
              <a:t>נוכחות המדריכה צריכה להיות מאפשרת ומשחקת, מתמסרת וקשובה</a:t>
            </a:r>
          </a:p>
        </p:txBody>
      </p:sp>
    </p:spTree>
    <p:extLst>
      <p:ext uri="{BB962C8B-B14F-4D97-AF65-F5344CB8AC3E}">
        <p14:creationId xmlns:p14="http://schemas.microsoft.com/office/powerpoint/2010/main" val="1578310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4CD28FAC-7099-4DDD-9F71-EE78EF03107C}"/>
              </a:ext>
            </a:extLst>
          </p:cNvPr>
          <p:cNvSpPr txBox="1"/>
          <p:nvPr/>
        </p:nvSpPr>
        <p:spPr>
          <a:xfrm>
            <a:off x="5167312" y="400050"/>
            <a:ext cx="3324224" cy="1477328"/>
          </a:xfrm>
          <a:prstGeom prst="rect">
            <a:avLst/>
          </a:prstGeom>
          <a:noFill/>
        </p:spPr>
        <p:txBody>
          <a:bodyPr wrap="square" rtlCol="1">
            <a:spAutoFit/>
          </a:bodyPr>
          <a:lstStyle/>
          <a:p>
            <a:br>
              <a:rPr lang="he-IL" b="0" i="0" dirty="0">
                <a:solidFill>
                  <a:srgbClr val="000000"/>
                </a:solidFill>
                <a:effectLst/>
                <a:latin typeface="Segoe UI Light" panose="020B0502040204020203" pitchFamily="34" charset="0"/>
                <a:cs typeface="Segoe UI Light" panose="020B0502040204020203" pitchFamily="34" charset="0"/>
              </a:rPr>
            </a:br>
            <a:br>
              <a:rPr lang="he-IL" b="0" i="0" dirty="0">
                <a:solidFill>
                  <a:srgbClr val="000000"/>
                </a:solidFill>
                <a:effectLst/>
                <a:latin typeface="Segoe UI Light" panose="020B0502040204020203" pitchFamily="34" charset="0"/>
                <a:cs typeface="Segoe UI Light" panose="020B0502040204020203" pitchFamily="34" charset="0"/>
              </a:rPr>
            </a:br>
            <a:br>
              <a:rPr lang="he-IL" b="0" i="0" dirty="0">
                <a:solidFill>
                  <a:srgbClr val="000000"/>
                </a:solidFill>
                <a:effectLst/>
                <a:latin typeface="Segoe UI Light" panose="020B0502040204020203" pitchFamily="34" charset="0"/>
                <a:cs typeface="Segoe UI Light" panose="020B0502040204020203" pitchFamily="34" charset="0"/>
              </a:rPr>
            </a:br>
            <a:br>
              <a:rPr lang="he-IL" b="0" i="0" dirty="0">
                <a:solidFill>
                  <a:srgbClr val="000000"/>
                </a:solidFill>
                <a:effectLst/>
                <a:latin typeface="Segoe UI Light" panose="020B0502040204020203" pitchFamily="34" charset="0"/>
                <a:cs typeface="Segoe UI Light" panose="020B0502040204020203" pitchFamily="34" charset="0"/>
              </a:rPr>
            </a:br>
            <a:endParaRPr lang="he-IL" dirty="0">
              <a:latin typeface="Segoe UI Light" panose="020B0502040204020203" pitchFamily="34" charset="0"/>
              <a:cs typeface="Segoe UI Light" panose="020B0502040204020203" pitchFamily="34" charset="0"/>
            </a:endParaRPr>
          </a:p>
        </p:txBody>
      </p:sp>
      <p:sp>
        <p:nvSpPr>
          <p:cNvPr id="3" name="תיבת טקסט 2">
            <a:extLst>
              <a:ext uri="{FF2B5EF4-FFF2-40B4-BE49-F238E27FC236}">
                <a16:creationId xmlns:a16="http://schemas.microsoft.com/office/drawing/2014/main" id="{108D60B8-EB29-410F-826B-E864C9842B90}"/>
              </a:ext>
            </a:extLst>
          </p:cNvPr>
          <p:cNvSpPr txBox="1"/>
          <p:nvPr/>
        </p:nvSpPr>
        <p:spPr>
          <a:xfrm>
            <a:off x="345440" y="302359"/>
            <a:ext cx="11694160" cy="5786199"/>
          </a:xfrm>
          <a:prstGeom prst="rect">
            <a:avLst/>
          </a:prstGeom>
          <a:noFill/>
        </p:spPr>
        <p:txBody>
          <a:bodyPr wrap="square" rtlCol="1">
            <a:spAutoFit/>
          </a:bodyPr>
          <a:lstStyle/>
          <a:p>
            <a:r>
              <a:rPr lang="he-IL" sz="2400" b="1" i="0" dirty="0">
                <a:solidFill>
                  <a:schemeClr val="accent1">
                    <a:lumMod val="75000"/>
                  </a:schemeClr>
                </a:solidFill>
                <a:effectLst/>
                <a:latin typeface="Segoe UI Light" panose="020B0502040204020203" pitchFamily="34" charset="0"/>
                <a:cs typeface="Segoe UI Light" panose="020B0502040204020203" pitchFamily="34" charset="0"/>
              </a:rPr>
              <a:t>נגיעה אחת רכה</a:t>
            </a:r>
          </a:p>
          <a:p>
            <a:r>
              <a:rPr lang="he-IL" b="1" i="0" dirty="0">
                <a:solidFill>
                  <a:srgbClr val="000000"/>
                </a:solidFill>
                <a:effectLst/>
                <a:latin typeface="Segoe UI Light" panose="020B0502040204020203" pitchFamily="34" charset="0"/>
                <a:cs typeface="Segoe UI Light" panose="020B0502040204020203" pitchFamily="34" charset="0"/>
              </a:rPr>
              <a:t>כ</a:t>
            </a:r>
            <a:r>
              <a:rPr lang="he-IL" b="0" i="0" dirty="0">
                <a:solidFill>
                  <a:srgbClr val="000000"/>
                </a:solidFill>
                <a:effectLst/>
                <a:latin typeface="Segoe UI Light" panose="020B0502040204020203" pitchFamily="34" charset="0"/>
                <a:cs typeface="Segoe UI Light" panose="020B0502040204020203" pitchFamily="34" charset="0"/>
              </a:rPr>
              <a:t>שישבתי מולך מבלי לדבר                                         </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כי </a:t>
            </a:r>
            <a:r>
              <a:rPr lang="he-IL" b="0" i="0" dirty="0" err="1">
                <a:solidFill>
                  <a:srgbClr val="000000"/>
                </a:solidFill>
                <a:effectLst/>
                <a:latin typeface="Segoe UI Light" panose="020B0502040204020203" pitchFamily="34" charset="0"/>
                <a:cs typeface="Segoe UI Light" panose="020B0502040204020203" pitchFamily="34" charset="0"/>
              </a:rPr>
              <a:t>הכל</a:t>
            </a:r>
            <a:r>
              <a:rPr lang="he-IL" b="0" i="0" dirty="0">
                <a:solidFill>
                  <a:srgbClr val="000000"/>
                </a:solidFill>
                <a:effectLst/>
                <a:latin typeface="Segoe UI Light" panose="020B0502040204020203" pitchFamily="34" charset="0"/>
                <a:cs typeface="Segoe UI Light" panose="020B0502040204020203" pitchFamily="34" charset="0"/>
              </a:rPr>
              <a:t> כבר נאמר</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ויכולתי לחוש שקשה לי מאוד</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יכולת לראות שמר</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אז עברת פתאום לכיוון המטבח</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וחזרת אחרי דקה</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ובדרך לא שמת ידך על כתפי</a:t>
            </a:r>
            <a:br>
              <a:rPr lang="he-IL"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chemeClr val="accent1">
                    <a:lumMod val="75000"/>
                  </a:schemeClr>
                </a:solidFill>
                <a:effectLst/>
                <a:latin typeface="Guttman Yad" panose="02010401010101010101" pitchFamily="2" charset="-79"/>
                <a:cs typeface="Guttman Yad" panose="02010401010101010101" pitchFamily="2" charset="-79"/>
              </a:rPr>
              <a:t>לנגיעה אחת רכה</a:t>
            </a:r>
            <a:br>
              <a:rPr lang="he-IL" b="0" i="0" dirty="0">
                <a:solidFill>
                  <a:srgbClr val="000000"/>
                </a:solidFill>
                <a:effectLst/>
                <a:latin typeface="Segoe UI Light" panose="020B0502040204020203" pitchFamily="34" charset="0"/>
                <a:cs typeface="Segoe UI Light" panose="020B0502040204020203" pitchFamily="34" charset="0"/>
              </a:rPr>
            </a:b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כן אתה כה ישר וכל כך הגון</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ואתה לא יכול לרמות</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כשאתה לא אוהב, אתה לא יכול</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ואת זה אי אפשר לשנות</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אבל כשעברת ממש על ידי</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והייתי כולי צעקה</a:t>
            </a:r>
            <a:br>
              <a:rPr lang="he-IL" b="0" i="0" dirty="0">
                <a:solidFill>
                  <a:srgbClr val="000000"/>
                </a:solidFill>
                <a:effectLst/>
                <a:latin typeface="Segoe UI Light" panose="020B0502040204020203" pitchFamily="34" charset="0"/>
                <a:cs typeface="Segoe UI Light" panose="020B0502040204020203" pitchFamily="34" charset="0"/>
              </a:rPr>
            </a:br>
            <a:r>
              <a:rPr lang="he-IL" b="0" i="0" dirty="0">
                <a:solidFill>
                  <a:srgbClr val="000000"/>
                </a:solidFill>
                <a:effectLst/>
                <a:latin typeface="Segoe UI Light" panose="020B0502040204020203" pitchFamily="34" charset="0"/>
                <a:cs typeface="Segoe UI Light" panose="020B0502040204020203" pitchFamily="34" charset="0"/>
              </a:rPr>
              <a:t>אתה לא הנחת ידך על כתפי</a:t>
            </a:r>
            <a:br>
              <a:rPr lang="he-IL"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chemeClr val="accent1">
                    <a:lumMod val="75000"/>
                  </a:schemeClr>
                </a:solidFill>
                <a:effectLst/>
                <a:latin typeface="Guttman Yad" panose="02010401010101010101" pitchFamily="2" charset="-79"/>
                <a:cs typeface="Guttman Yad" panose="02010401010101010101" pitchFamily="2" charset="-79"/>
              </a:rPr>
              <a:t>לנגיעה אחת רכה</a:t>
            </a:r>
            <a:br>
              <a:rPr lang="he-IL" b="0" i="0" dirty="0">
                <a:solidFill>
                  <a:srgbClr val="000000"/>
                </a:solidFill>
                <a:effectLst/>
                <a:latin typeface="Segoe UI Light" panose="020B0502040204020203" pitchFamily="34" charset="0"/>
                <a:cs typeface="Segoe UI Light" panose="020B0502040204020203" pitchFamily="34" charset="0"/>
              </a:rPr>
            </a:br>
            <a:br>
              <a:rPr lang="he-IL" b="0" i="0" dirty="0">
                <a:solidFill>
                  <a:srgbClr val="000000"/>
                </a:solidFill>
                <a:effectLst/>
                <a:latin typeface="Segoe UI Light" panose="020B0502040204020203" pitchFamily="34" charset="0"/>
                <a:cs typeface="Segoe UI Light" panose="020B0502040204020203" pitchFamily="34" charset="0"/>
              </a:rPr>
            </a:br>
            <a:endParaRPr lang="he-IL" dirty="0">
              <a:latin typeface="Segoe UI Light" panose="020B0502040204020203" pitchFamily="34" charset="0"/>
              <a:cs typeface="Segoe UI Light" panose="020B0502040204020203" pitchFamily="34" charset="0"/>
            </a:endParaRPr>
          </a:p>
        </p:txBody>
      </p:sp>
      <p:sp>
        <p:nvSpPr>
          <p:cNvPr id="8" name="תיבת טקסט 7">
            <a:extLst>
              <a:ext uri="{FF2B5EF4-FFF2-40B4-BE49-F238E27FC236}">
                <a16:creationId xmlns:a16="http://schemas.microsoft.com/office/drawing/2014/main" id="{9C3BDA44-849E-4F0E-AE32-3E761A7794EF}"/>
              </a:ext>
            </a:extLst>
          </p:cNvPr>
          <p:cNvSpPr txBox="1"/>
          <p:nvPr/>
        </p:nvSpPr>
        <p:spPr>
          <a:xfrm flipH="1">
            <a:off x="800100" y="3898225"/>
            <a:ext cx="4105275" cy="2893100"/>
          </a:xfrm>
          <a:prstGeom prst="rect">
            <a:avLst/>
          </a:prstGeom>
          <a:noFill/>
        </p:spPr>
        <p:txBody>
          <a:bodyPr wrap="square" rtlCol="1">
            <a:spAutoFit/>
          </a:bodyPr>
          <a:lstStyle/>
          <a:p>
            <a:endParaRPr lang="he-IL" dirty="0"/>
          </a:p>
        </p:txBody>
      </p:sp>
      <p:pic>
        <p:nvPicPr>
          <p:cNvPr id="1026" name="Picture 2" descr="סוגיית התלות / יעל ערמוני - כחותם - בית ספר להכשרת יועצים ביוגרפים">
            <a:extLst>
              <a:ext uri="{FF2B5EF4-FFF2-40B4-BE49-F238E27FC236}">
                <a16:creationId xmlns:a16="http://schemas.microsoft.com/office/drawing/2014/main" id="{B03D5C55-2793-4CE3-BF68-BCB5A49F34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0"/>
            <a:ext cx="8610240" cy="6404463"/>
          </a:xfrm>
          <a:prstGeom prst="rect">
            <a:avLst/>
          </a:prstGeom>
          <a:noFill/>
          <a:extLst>
            <a:ext uri="{909E8E84-426E-40DD-AFC4-6F175D3DCCD1}">
              <a14:hiddenFill xmlns:a14="http://schemas.microsoft.com/office/drawing/2010/main">
                <a:solidFill>
                  <a:srgbClr val="FFFFFF"/>
                </a:solidFill>
              </a14:hiddenFill>
            </a:ext>
          </a:extLst>
        </p:spPr>
      </p:pic>
      <p:sp>
        <p:nvSpPr>
          <p:cNvPr id="9" name="תיבת טקסט 8">
            <a:extLst>
              <a:ext uri="{FF2B5EF4-FFF2-40B4-BE49-F238E27FC236}">
                <a16:creationId xmlns:a16="http://schemas.microsoft.com/office/drawing/2014/main" id="{5774FFB0-362C-4895-919B-4F170B416D5C}"/>
              </a:ext>
            </a:extLst>
          </p:cNvPr>
          <p:cNvSpPr txBox="1"/>
          <p:nvPr/>
        </p:nvSpPr>
        <p:spPr>
          <a:xfrm>
            <a:off x="1313627" y="7514119"/>
            <a:ext cx="11032294" cy="434913"/>
          </a:xfrm>
          <a:prstGeom prst="rect">
            <a:avLst/>
          </a:prstGeom>
          <a:noFill/>
        </p:spPr>
        <p:txBody>
          <a:bodyPr wrap="square" rtlCol="1">
            <a:spAutoFit/>
          </a:bodyPr>
          <a:lstStyle/>
          <a:p>
            <a:endParaRPr lang="he-IL" dirty="0"/>
          </a:p>
        </p:txBody>
      </p:sp>
      <p:pic>
        <p:nvPicPr>
          <p:cNvPr id="10" name="נגיעה_אחת_רכה_[Itmusic.info]">
            <a:hlinkClick r:id="" action="ppaction://media"/>
            <a:extLst>
              <a:ext uri="{FF2B5EF4-FFF2-40B4-BE49-F238E27FC236}">
                <a16:creationId xmlns:a16="http://schemas.microsoft.com/office/drawing/2014/main" id="{43B53C44-4979-4054-A141-F1F27A5A28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501771" y="5516937"/>
            <a:ext cx="406400" cy="406400"/>
          </a:xfrm>
          <a:prstGeom prst="rect">
            <a:avLst/>
          </a:prstGeom>
        </p:spPr>
      </p:pic>
    </p:spTree>
    <p:extLst>
      <p:ext uri="{BB962C8B-B14F-4D97-AF65-F5344CB8AC3E}">
        <p14:creationId xmlns:p14="http://schemas.microsoft.com/office/powerpoint/2010/main" val="68990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492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54372" y="0"/>
            <a:ext cx="9483256"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Freeform: Shape 10">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44484" y="0"/>
            <a:ext cx="7837716" cy="6858000"/>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תיבת טקסט 3">
            <a:extLst>
              <a:ext uri="{FF2B5EF4-FFF2-40B4-BE49-F238E27FC236}">
                <a16:creationId xmlns:a16="http://schemas.microsoft.com/office/drawing/2014/main" id="{F57A77D7-CB76-491F-B97E-BB00EC450F54}"/>
              </a:ext>
            </a:extLst>
          </p:cNvPr>
          <p:cNvSpPr txBox="1"/>
          <p:nvPr/>
        </p:nvSpPr>
        <p:spPr>
          <a:xfrm>
            <a:off x="2966720" y="647272"/>
            <a:ext cx="5293702" cy="5016758"/>
          </a:xfrm>
          <a:prstGeom prst="rect">
            <a:avLst/>
          </a:prstGeom>
          <a:noFill/>
        </p:spPr>
        <p:txBody>
          <a:bodyPr wrap="square" rtlCol="1">
            <a:spAutoFit/>
          </a:bodyPr>
          <a:lstStyle/>
          <a:p>
            <a:pPr fontAlgn="base"/>
            <a:r>
              <a:rPr lang="he-IL" sz="2000" b="1" i="0" dirty="0">
                <a:solidFill>
                  <a:srgbClr val="444444"/>
                </a:solidFill>
                <a:effectLst/>
                <a:latin typeface="Segoe UI Light" panose="020B0502040204020203" pitchFamily="34" charset="0"/>
                <a:cs typeface="Segoe UI Light" panose="020B0502040204020203" pitchFamily="34" charset="0"/>
              </a:rPr>
              <a:t>כְּשֶׁעָצוּב לִי – מאת שלומית כהן-אסיף</a:t>
            </a:r>
          </a:p>
          <a:p>
            <a:pPr fontAlgn="base"/>
            <a:r>
              <a:rPr lang="he-IL" sz="2000" b="0" i="0" dirty="0">
                <a:solidFill>
                  <a:srgbClr val="000000"/>
                </a:solidFill>
                <a:effectLst/>
                <a:latin typeface="Segoe UI Light" panose="020B0502040204020203" pitchFamily="34" charset="0"/>
                <a:cs typeface="Segoe UI Light" panose="020B0502040204020203" pitchFamily="34" charset="0"/>
              </a:rPr>
              <a:t>אמַרְתִּי לְאִמָּא: "עָצוּב לִי!"</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"לֵךְ תַּשְׁקֶה אֶת הָעֲצִיצִים," אִמָּא אָמְרָה.</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הִשְׁקֵיתִי</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וְלֹא עָזַר</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הָעֶצֶב לֹא עָבַר.</a:t>
            </a:r>
          </a:p>
          <a:p>
            <a:pPr fontAlgn="base"/>
            <a:r>
              <a:rPr lang="he-IL" sz="2000" b="0" i="0" dirty="0">
                <a:solidFill>
                  <a:srgbClr val="000000"/>
                </a:solidFill>
                <a:effectLst/>
                <a:latin typeface="Segoe UI Light" panose="020B0502040204020203" pitchFamily="34" charset="0"/>
                <a:cs typeface="Segoe UI Light" panose="020B0502040204020203" pitchFamily="34" charset="0"/>
              </a:rPr>
              <a:t>אָמַרְתִּי לְאַבָּא: "עָצוּב לִי!"</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"אָז תָּשִׁיר שִׁירִים," אַבָּא אָמַר.</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שַׁרְתִּי</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וְלֹא עָזַר</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הָעֶצֶב לֹא עָבַר.</a:t>
            </a:r>
          </a:p>
          <a:p>
            <a:pPr fontAlgn="base"/>
            <a:r>
              <a:rPr lang="he-IL" sz="2000" b="0" i="0" dirty="0">
                <a:solidFill>
                  <a:srgbClr val="000000"/>
                </a:solidFill>
                <a:effectLst/>
                <a:latin typeface="Segoe UI Light" panose="020B0502040204020203" pitchFamily="34" charset="0"/>
                <a:cs typeface="Segoe UI Light" panose="020B0502040204020203" pitchFamily="34" charset="0"/>
              </a:rPr>
              <a:t>אָמַרְתִּי לְסַבָּא: "עָצוּב לִי!"</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סַבָּא לִטֵּף לִי אֶת </a:t>
            </a:r>
            <a:r>
              <a:rPr lang="he-IL" sz="2000" b="0" i="0" dirty="0" err="1">
                <a:solidFill>
                  <a:srgbClr val="000000"/>
                </a:solidFill>
                <a:effectLst/>
                <a:latin typeface="Segoe UI Light" panose="020B0502040204020203" pitchFamily="34" charset="0"/>
                <a:cs typeface="Segoe UI Light" panose="020B0502040204020203" pitchFamily="34" charset="0"/>
              </a:rPr>
              <a:t>הַצַּוָּאר</a:t>
            </a:r>
            <a:r>
              <a:rPr lang="he-IL" sz="2000" b="0" i="0" dirty="0">
                <a:solidFill>
                  <a:srgbClr val="000000"/>
                </a:solidFill>
                <a:effectLst/>
                <a:latin typeface="Segoe UI Light" panose="020B0502040204020203" pitchFamily="34" charset="0"/>
                <a:cs typeface="Segoe UI Light" panose="020B0502040204020203" pitchFamily="34" charset="0"/>
              </a:rPr>
              <a:t>,</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"סַפֵּר מַה קָּרָה,</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אַל תַּחְסִיר דָּבָר."</a:t>
            </a:r>
            <a:br>
              <a:rPr lang="he-IL" sz="2000" b="0" i="0" dirty="0">
                <a:solidFill>
                  <a:srgbClr val="000000"/>
                </a:solidFill>
                <a:effectLst/>
                <a:latin typeface="Segoe UI Light" panose="020B0502040204020203" pitchFamily="34" charset="0"/>
                <a:cs typeface="Segoe UI Light" panose="020B0502040204020203" pitchFamily="34" charset="0"/>
              </a:rPr>
            </a:br>
            <a:r>
              <a:rPr lang="he-IL" sz="2000" b="0" i="0" dirty="0">
                <a:solidFill>
                  <a:srgbClr val="000000"/>
                </a:solidFill>
                <a:effectLst/>
                <a:latin typeface="Segoe UI Light" panose="020B0502040204020203" pitchFamily="34" charset="0"/>
                <a:cs typeface="Segoe UI Light" panose="020B0502040204020203" pitchFamily="34" charset="0"/>
              </a:rPr>
              <a:t>וְהָעֶצֶב עָבַר.</a:t>
            </a:r>
          </a:p>
        </p:txBody>
      </p:sp>
    </p:spTree>
    <p:extLst>
      <p:ext uri="{BB962C8B-B14F-4D97-AF65-F5344CB8AC3E}">
        <p14:creationId xmlns:p14="http://schemas.microsoft.com/office/powerpoint/2010/main" val="2445627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0798B7A7-24D5-47FA-BC77-9BFB5EB70D8E}"/>
              </a:ext>
            </a:extLst>
          </p:cNvPr>
          <p:cNvSpPr>
            <a:spLocks noGrp="1"/>
          </p:cNvSpPr>
          <p:nvPr>
            <p:ph type="title"/>
          </p:nvPr>
        </p:nvSpPr>
        <p:spPr>
          <a:xfrm>
            <a:off x="640079" y="2053641"/>
            <a:ext cx="3669161" cy="2760098"/>
          </a:xfrm>
        </p:spPr>
        <p:txBody>
          <a:bodyPr vert="horz" lIns="91440" tIns="45720" rIns="91440" bIns="45720" rtlCol="0" anchor="ctr">
            <a:normAutofit/>
          </a:bodyPr>
          <a:lstStyle/>
          <a:p>
            <a:pPr algn="l" rtl="0"/>
            <a:r>
              <a:rPr lang="en-US" kern="1200">
                <a:solidFill>
                  <a:srgbClr val="FFFFFF"/>
                </a:solidFill>
                <a:latin typeface="Segoe UI Light" panose="020B0502040204020203" pitchFamily="34" charset="0"/>
                <a:cs typeface="Segoe UI Light" panose="020B0502040204020203" pitchFamily="34" charset="0"/>
              </a:rPr>
              <a:t>הולדינג במפגש עם הילד</a:t>
            </a:r>
            <a:endParaRPr lang="en-US" kern="1200" dirty="0">
              <a:solidFill>
                <a:srgbClr val="FFFFFF"/>
              </a:solidFill>
              <a:latin typeface="Segoe UI Light" panose="020B0502040204020203" pitchFamily="34" charset="0"/>
              <a:cs typeface="Segoe UI Light" panose="020B0502040204020203" pitchFamily="34" charset="0"/>
            </a:endParaRPr>
          </a:p>
        </p:txBody>
      </p:sp>
      <p:sp>
        <p:nvSpPr>
          <p:cNvPr id="4" name="תיבת טקסט 3">
            <a:extLst>
              <a:ext uri="{FF2B5EF4-FFF2-40B4-BE49-F238E27FC236}">
                <a16:creationId xmlns:a16="http://schemas.microsoft.com/office/drawing/2014/main" id="{B239FC99-BDE2-4910-81A0-1534409CCD22}"/>
              </a:ext>
            </a:extLst>
          </p:cNvPr>
          <p:cNvSpPr txBox="1"/>
          <p:nvPr/>
        </p:nvSpPr>
        <p:spPr>
          <a:xfrm>
            <a:off x="6090574" y="801866"/>
            <a:ext cx="5306084" cy="5230634"/>
          </a:xfrm>
          <a:prstGeom prst="rect">
            <a:avLst/>
          </a:prstGeom>
        </p:spPr>
        <p:txBody>
          <a:bodyPr vert="horz" lIns="91440" tIns="45720" rIns="91440" bIns="45720" rtlCol="0" anchor="ctr">
            <a:normAutofit fontScale="92500" lnSpcReduction="10000"/>
          </a:bodyPr>
          <a:lstStyle/>
          <a:p>
            <a:pPr>
              <a:lnSpc>
                <a:spcPct val="90000"/>
              </a:lnSpc>
              <a:spcAft>
                <a:spcPts val="600"/>
              </a:spcAft>
            </a:pPr>
            <a:r>
              <a:rPr lang="he-IL" sz="3600" dirty="0">
                <a:solidFill>
                  <a:srgbClr val="000000"/>
                </a:solidFill>
                <a:latin typeface="Segoe UI Light" panose="020B0502040204020203" pitchFamily="34" charset="0"/>
                <a:cs typeface="Segoe UI Light" panose="020B0502040204020203" pitchFamily="34" charset="0"/>
              </a:rPr>
              <a:t>אחזקה פיזית מכילה, מחבקת וקבועה, </a:t>
            </a:r>
            <a:r>
              <a:rPr lang="en-US" sz="3600" dirty="0" err="1">
                <a:solidFill>
                  <a:srgbClr val="000000"/>
                </a:solidFill>
                <a:effectLst/>
                <a:latin typeface="Segoe UI Light" panose="020B0502040204020203" pitchFamily="34" charset="0"/>
                <a:cs typeface="Segoe UI Light" panose="020B0502040204020203" pitchFamily="34" charset="0"/>
              </a:rPr>
              <a:t>מייצר</a:t>
            </a:r>
            <a:r>
              <a:rPr lang="he-IL" sz="3600" dirty="0">
                <a:solidFill>
                  <a:srgbClr val="000000"/>
                </a:solidFill>
                <a:effectLst/>
                <a:latin typeface="Segoe UI Light" panose="020B0502040204020203" pitchFamily="34" charset="0"/>
                <a:cs typeface="Segoe UI Light" panose="020B0502040204020203" pitchFamily="34" charset="0"/>
              </a:rPr>
              <a:t>ת</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מציאות</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שבה</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האמא</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אומרת</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לילד</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הכאב</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הסבל</a:t>
            </a:r>
            <a:r>
              <a:rPr lang="he-IL" sz="3600" dirty="0">
                <a:solidFill>
                  <a:srgbClr val="000000"/>
                </a:solidFill>
                <a:effectLst/>
                <a:latin typeface="Segoe UI Light" panose="020B0502040204020203" pitchFamily="34" charset="0"/>
                <a:cs typeface="Segoe UI Light" panose="020B0502040204020203" pitchFamily="34" charset="0"/>
              </a:rPr>
              <a:t> </a:t>
            </a:r>
            <a:r>
              <a:rPr lang="he-IL" sz="3600" dirty="0" err="1">
                <a:solidFill>
                  <a:srgbClr val="000000"/>
                </a:solidFill>
                <a:effectLst/>
                <a:latin typeface="Segoe UI Light" panose="020B0502040204020203" pitchFamily="34" charset="0"/>
                <a:cs typeface="Segoe UI Light" panose="020B0502040204020203" pitchFamily="34" charset="0"/>
              </a:rPr>
              <a:t>וה</a:t>
            </a:r>
            <a:r>
              <a:rPr lang="en-US" sz="3600" dirty="0" err="1">
                <a:solidFill>
                  <a:srgbClr val="000000"/>
                </a:solidFill>
                <a:effectLst/>
                <a:latin typeface="Segoe UI Light" panose="020B0502040204020203" pitchFamily="34" charset="0"/>
                <a:cs typeface="Segoe UI Light" panose="020B0502040204020203" pitchFamily="34" charset="0"/>
              </a:rPr>
              <a:t>קושי</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עלי</a:t>
            </a:r>
            <a:endParaRPr lang="en-US" sz="3600" dirty="0">
              <a:solidFill>
                <a:srgbClr val="000000"/>
              </a:solidFill>
              <a:effectLst/>
              <a:latin typeface="Segoe UI Light" panose="020B0502040204020203" pitchFamily="34" charset="0"/>
              <a:cs typeface="Segoe UI Light" panose="020B0502040204020203" pitchFamily="34" charset="0"/>
            </a:endParaRPr>
          </a:p>
          <a:p>
            <a:pPr>
              <a:lnSpc>
                <a:spcPct val="90000"/>
              </a:lnSpc>
              <a:spcAft>
                <a:spcPts val="600"/>
              </a:spcAft>
            </a:pPr>
            <a:r>
              <a:rPr lang="en-US" sz="3600" dirty="0" err="1">
                <a:solidFill>
                  <a:srgbClr val="000000"/>
                </a:solidFill>
                <a:effectLst/>
                <a:latin typeface="Segoe UI Light" panose="020B0502040204020203" pitchFamily="34" charset="0"/>
                <a:cs typeface="Segoe UI Light" panose="020B0502040204020203" pitchFamily="34" charset="0"/>
              </a:rPr>
              <a:t>לך</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יש</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תפקיד</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לגלות</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את</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העולם</a:t>
            </a:r>
            <a:r>
              <a:rPr lang="en-US" sz="3600" dirty="0">
                <a:solidFill>
                  <a:srgbClr val="000000"/>
                </a:solidFill>
                <a:effectLst/>
                <a:latin typeface="Segoe UI Light" panose="020B0502040204020203" pitchFamily="34" charset="0"/>
                <a:cs typeface="Segoe UI Light" panose="020B0502040204020203" pitchFamily="34" charset="0"/>
              </a:rPr>
              <a:t>, </a:t>
            </a:r>
            <a:r>
              <a:rPr lang="en-US" sz="3600" dirty="0" err="1">
                <a:solidFill>
                  <a:srgbClr val="000000"/>
                </a:solidFill>
                <a:effectLst/>
                <a:latin typeface="Segoe UI Light" panose="020B0502040204020203" pitchFamily="34" charset="0"/>
                <a:cs typeface="Segoe UI Light" panose="020B0502040204020203" pitchFamily="34" charset="0"/>
              </a:rPr>
              <a:t>להתבונן</a:t>
            </a:r>
            <a:r>
              <a:rPr lang="en-US" sz="3600" dirty="0">
                <a:solidFill>
                  <a:srgbClr val="000000"/>
                </a:solidFill>
                <a:effectLst/>
                <a:latin typeface="Segoe UI Light" panose="020B0502040204020203" pitchFamily="34" charset="0"/>
                <a:cs typeface="Segoe UI Light" panose="020B0502040204020203" pitchFamily="34" charset="0"/>
              </a:rPr>
              <a:t> </a:t>
            </a:r>
          </a:p>
          <a:p>
            <a:pPr>
              <a:lnSpc>
                <a:spcPct val="90000"/>
              </a:lnSpc>
              <a:spcAft>
                <a:spcPts val="600"/>
              </a:spcAft>
            </a:pPr>
            <a:r>
              <a:rPr lang="en-US" sz="3600" b="1" dirty="0" err="1">
                <a:solidFill>
                  <a:srgbClr val="000000"/>
                </a:solidFill>
                <a:latin typeface="Segoe UI Light" panose="020B0502040204020203" pitchFamily="34" charset="0"/>
                <a:cs typeface="Segoe UI Light" panose="020B0502040204020203" pitchFamily="34" charset="0"/>
              </a:rPr>
              <a:t>מה</a:t>
            </a:r>
            <a:r>
              <a:rPr lang="en-US" sz="3600" b="1" dirty="0">
                <a:solidFill>
                  <a:srgbClr val="000000"/>
                </a:solidFill>
                <a:latin typeface="Segoe UI Light" panose="020B0502040204020203" pitchFamily="34" charset="0"/>
                <a:cs typeface="Segoe UI Light" panose="020B0502040204020203" pitchFamily="34" charset="0"/>
              </a:rPr>
              <a:t> </a:t>
            </a:r>
            <a:r>
              <a:rPr lang="en-US" sz="3600" b="1" dirty="0" err="1">
                <a:solidFill>
                  <a:srgbClr val="000000"/>
                </a:solidFill>
                <a:latin typeface="Segoe UI Light" panose="020B0502040204020203" pitchFamily="34" charset="0"/>
                <a:cs typeface="Segoe UI Light" panose="020B0502040204020203" pitchFamily="34" charset="0"/>
              </a:rPr>
              <a:t>מדריכה</a:t>
            </a:r>
            <a:r>
              <a:rPr lang="en-US" sz="3600" b="1" dirty="0">
                <a:solidFill>
                  <a:srgbClr val="000000"/>
                </a:solidFill>
                <a:latin typeface="Segoe UI Light" panose="020B0502040204020203" pitchFamily="34" charset="0"/>
                <a:cs typeface="Segoe UI Light" panose="020B0502040204020203" pitchFamily="34" charset="0"/>
              </a:rPr>
              <a:t> </a:t>
            </a:r>
            <a:r>
              <a:rPr lang="en-US" sz="3600" b="1" dirty="0" err="1">
                <a:solidFill>
                  <a:srgbClr val="000000"/>
                </a:solidFill>
                <a:latin typeface="Segoe UI Light" panose="020B0502040204020203" pitchFamily="34" charset="0"/>
                <a:cs typeface="Segoe UI Light" panose="020B0502040204020203" pitchFamily="34" charset="0"/>
              </a:rPr>
              <a:t>יכולה</a:t>
            </a:r>
            <a:r>
              <a:rPr lang="en-US" sz="3600" b="1" dirty="0">
                <a:solidFill>
                  <a:srgbClr val="000000"/>
                </a:solidFill>
                <a:latin typeface="Segoe UI Light" panose="020B0502040204020203" pitchFamily="34" charset="0"/>
                <a:cs typeface="Segoe UI Light" panose="020B0502040204020203" pitchFamily="34" charset="0"/>
              </a:rPr>
              <a:t> </a:t>
            </a:r>
            <a:r>
              <a:rPr lang="en-US" sz="3600" b="1" dirty="0" err="1">
                <a:solidFill>
                  <a:srgbClr val="000000"/>
                </a:solidFill>
                <a:latin typeface="Segoe UI Light" panose="020B0502040204020203" pitchFamily="34" charset="0"/>
                <a:cs typeface="Segoe UI Light" panose="020B0502040204020203" pitchFamily="34" charset="0"/>
              </a:rPr>
              <a:t>לעשות</a:t>
            </a:r>
            <a:r>
              <a:rPr lang="en-US" sz="3600" b="1" dirty="0">
                <a:solidFill>
                  <a:srgbClr val="000000"/>
                </a:solidFill>
                <a:latin typeface="Segoe UI Light" panose="020B0502040204020203" pitchFamily="34" charset="0"/>
                <a:cs typeface="Segoe UI Light" panose="020B0502040204020203" pitchFamily="34" charset="0"/>
              </a:rPr>
              <a:t> </a:t>
            </a:r>
            <a:r>
              <a:rPr lang="en-US" sz="3600" b="1" dirty="0" err="1">
                <a:solidFill>
                  <a:srgbClr val="000000"/>
                </a:solidFill>
                <a:latin typeface="Segoe UI Light" panose="020B0502040204020203" pitchFamily="34" charset="0"/>
                <a:cs typeface="Segoe UI Light" panose="020B0502040204020203" pitchFamily="34" charset="0"/>
              </a:rPr>
              <a:t>במקום</a:t>
            </a:r>
            <a:r>
              <a:rPr lang="en-US" sz="3600" b="1" dirty="0">
                <a:solidFill>
                  <a:srgbClr val="000000"/>
                </a:solidFill>
                <a:latin typeface="Segoe UI Light" panose="020B0502040204020203" pitchFamily="34" charset="0"/>
                <a:cs typeface="Segoe UI Light" panose="020B0502040204020203" pitchFamily="34" charset="0"/>
              </a:rPr>
              <a:t> </a:t>
            </a:r>
            <a:r>
              <a:rPr lang="en-US" sz="3600" b="1" dirty="0" err="1">
                <a:solidFill>
                  <a:srgbClr val="000000"/>
                </a:solidFill>
                <a:latin typeface="Segoe UI Light" panose="020B0502040204020203" pitchFamily="34" charset="0"/>
                <a:cs typeface="Segoe UI Light" panose="020B0502040204020203" pitchFamily="34" charset="0"/>
              </a:rPr>
              <a:t>הזה</a:t>
            </a:r>
            <a:r>
              <a:rPr lang="en-US" sz="3600" b="1" dirty="0">
                <a:solidFill>
                  <a:srgbClr val="000000"/>
                </a:solidFill>
                <a:latin typeface="Segoe UI Light" panose="020B0502040204020203" pitchFamily="34" charset="0"/>
                <a:cs typeface="Segoe UI Light" panose="020B0502040204020203" pitchFamily="34" charset="0"/>
              </a:rPr>
              <a:t>?</a:t>
            </a:r>
            <a:endParaRPr lang="he-IL" sz="3600" b="1" dirty="0">
              <a:solidFill>
                <a:srgbClr val="000000"/>
              </a:solidFill>
              <a:latin typeface="Segoe UI Light" panose="020B0502040204020203" pitchFamily="34" charset="0"/>
              <a:cs typeface="Segoe UI Light" panose="020B0502040204020203" pitchFamily="34" charset="0"/>
            </a:endParaRPr>
          </a:p>
          <a:p>
            <a:pPr>
              <a:lnSpc>
                <a:spcPct val="90000"/>
              </a:lnSpc>
              <a:spcAft>
                <a:spcPts val="600"/>
              </a:spcAft>
            </a:pPr>
            <a:r>
              <a:rPr lang="he-IL" sz="3600" dirty="0" err="1">
                <a:solidFill>
                  <a:srgbClr val="000000"/>
                </a:solidFill>
                <a:effectLst/>
                <a:latin typeface="Segoe UI Light" panose="020B0502040204020203" pitchFamily="34" charset="0"/>
                <a:cs typeface="Segoe UI Light" panose="020B0502040204020203" pitchFamily="34" charset="0"/>
              </a:rPr>
              <a:t>הולדינג</a:t>
            </a:r>
            <a:r>
              <a:rPr lang="he-IL" sz="3600" dirty="0">
                <a:solidFill>
                  <a:srgbClr val="000000"/>
                </a:solidFill>
                <a:effectLst/>
                <a:latin typeface="Segoe UI Light" panose="020B0502040204020203" pitchFamily="34" charset="0"/>
                <a:cs typeface="Segoe UI Light" panose="020B0502040204020203" pitchFamily="34" charset="0"/>
              </a:rPr>
              <a:t> מותאם-החזקה רגשית של הילד גם כשהוא סוער ומוצ</a:t>
            </a:r>
            <a:r>
              <a:rPr lang="he-IL" sz="3600" dirty="0">
                <a:solidFill>
                  <a:srgbClr val="000000"/>
                </a:solidFill>
                <a:latin typeface="Segoe UI Light" panose="020B0502040204020203" pitchFamily="34" charset="0"/>
                <a:cs typeface="Segoe UI Light" panose="020B0502040204020203" pitchFamily="34" charset="0"/>
              </a:rPr>
              <a:t>ף</a:t>
            </a:r>
            <a:endParaRPr lang="en-US" sz="3600" dirty="0">
              <a:solidFill>
                <a:srgbClr val="000000"/>
              </a:solidFill>
              <a:effectLst/>
              <a:latin typeface="Segoe UI Light" panose="020B0502040204020203" pitchFamily="34" charset="0"/>
              <a:cs typeface="Segoe UI Light" panose="020B0502040204020203" pitchFamily="34" charset="0"/>
            </a:endParaRPr>
          </a:p>
          <a:p>
            <a:pPr rtl="0">
              <a:lnSpc>
                <a:spcPct val="90000"/>
              </a:lnSpc>
              <a:spcAft>
                <a:spcPts val="600"/>
              </a:spcAft>
            </a:pPr>
            <a:endParaRPr lang="en-US" sz="3600" dirty="0">
              <a:solidFill>
                <a:srgbClr val="000000"/>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95740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FA833C7E-074F-4B2D-B740-D6411D09ED94}"/>
              </a:ext>
            </a:extLst>
          </p:cNvPr>
          <p:cNvSpPr>
            <a:spLocks noGrp="1"/>
          </p:cNvSpPr>
          <p:nvPr>
            <p:ph type="title"/>
          </p:nvPr>
        </p:nvSpPr>
        <p:spPr>
          <a:xfrm>
            <a:off x="640079" y="2053641"/>
            <a:ext cx="3669161" cy="2760098"/>
          </a:xfrm>
        </p:spPr>
        <p:txBody>
          <a:bodyPr>
            <a:normAutofit/>
          </a:bodyPr>
          <a:lstStyle/>
          <a:p>
            <a:r>
              <a:rPr lang="he-IL" dirty="0">
                <a:solidFill>
                  <a:srgbClr val="FFFFFF"/>
                </a:solidFill>
                <a:latin typeface="Segoe UI Light" panose="020B0502040204020203" pitchFamily="34" charset="0"/>
                <a:cs typeface="Segoe UI Light" panose="020B0502040204020203" pitchFamily="34" charset="0"/>
              </a:rPr>
              <a:t>סימביוזה ונפרדות</a:t>
            </a:r>
          </a:p>
        </p:txBody>
      </p:sp>
      <p:sp>
        <p:nvSpPr>
          <p:cNvPr id="3" name="מציין מיקום תוכן 2">
            <a:extLst>
              <a:ext uri="{FF2B5EF4-FFF2-40B4-BE49-F238E27FC236}">
                <a16:creationId xmlns:a16="http://schemas.microsoft.com/office/drawing/2014/main" id="{CDB72699-272F-4B39-B0D6-942A6A5BEDAB}"/>
              </a:ext>
            </a:extLst>
          </p:cNvPr>
          <p:cNvSpPr>
            <a:spLocks noGrp="1"/>
          </p:cNvSpPr>
          <p:nvPr>
            <p:ph idx="1"/>
          </p:nvPr>
        </p:nvSpPr>
        <p:spPr>
          <a:xfrm>
            <a:off x="6090574" y="801866"/>
            <a:ext cx="5306084" cy="5230634"/>
          </a:xfrm>
        </p:spPr>
        <p:txBody>
          <a:bodyPr anchor="ctr">
            <a:normAutofit/>
          </a:bodyPr>
          <a:lstStyle/>
          <a:p>
            <a:r>
              <a:rPr lang="he-IL" sz="3600" dirty="0">
                <a:solidFill>
                  <a:srgbClr val="000000"/>
                </a:solidFill>
                <a:latin typeface="Segoe UI Light" panose="020B0502040204020203" pitchFamily="34" charset="0"/>
                <a:cs typeface="Segoe UI Light" panose="020B0502040204020203" pitchFamily="34" charset="0"/>
              </a:rPr>
              <a:t>איך אני מייצרת נפרדות ועצמאות אצל הילד?</a:t>
            </a:r>
          </a:p>
          <a:p>
            <a:r>
              <a:rPr lang="he-IL" sz="3600" dirty="0">
                <a:solidFill>
                  <a:srgbClr val="000000"/>
                </a:solidFill>
                <a:latin typeface="Segoe UI Light" panose="020B0502040204020203" pitchFamily="34" charset="0"/>
                <a:cs typeface="Segoe UI Light" panose="020B0502040204020203" pitchFamily="34" charset="0"/>
              </a:rPr>
              <a:t>יצירה של סביבה בטוחה שמאפשרת נפרדות, גדילה</a:t>
            </a:r>
          </a:p>
        </p:txBody>
      </p:sp>
    </p:spTree>
    <p:extLst>
      <p:ext uri="{BB962C8B-B14F-4D97-AF65-F5344CB8AC3E}">
        <p14:creationId xmlns:p14="http://schemas.microsoft.com/office/powerpoint/2010/main" val="968105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54372" y="0"/>
            <a:ext cx="9483256" cy="6858000"/>
          </a:xfrm>
          <a:prstGeom prst="rect">
            <a:avLst/>
          </a:prstGeom>
          <a:solidFill>
            <a:srgbClr val="633E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9" name="Picture 138">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1" name="Freeform: Shape 140">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44484" y="0"/>
            <a:ext cx="7837716" cy="6858000"/>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2" name="Picture 4" descr="ועל אימהות על דפנה ואדם : הקומפוזיציה הסמיוטית של האהבה | קציעה ...">
            <a:extLst>
              <a:ext uri="{FF2B5EF4-FFF2-40B4-BE49-F238E27FC236}">
                <a16:creationId xmlns:a16="http://schemas.microsoft.com/office/drawing/2014/main" id="{DB367980-D43B-45D0-973A-EA7A72C1757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366234" y="1176793"/>
            <a:ext cx="3202439" cy="4548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473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8" name="Picture 6" descr="Mirror Reflection Paintings | Fine Art America">
            <a:extLst>
              <a:ext uri="{FF2B5EF4-FFF2-40B4-BE49-F238E27FC236}">
                <a16:creationId xmlns:a16="http://schemas.microsoft.com/office/drawing/2014/main" id="{07DBB819-43DA-4F96-90AC-D26B860A94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109" r="1" b="1"/>
          <a:stretch/>
        </p:blipFill>
        <p:spPr bwMode="auto">
          <a:xfrm>
            <a:off x="-6507" y="1183339"/>
            <a:ext cx="4046132" cy="5707537"/>
          </a:xfrm>
          <a:prstGeom prst="rect">
            <a:avLst/>
          </a:prstGeom>
          <a:noFill/>
          <a:extLst>
            <a:ext uri="{909E8E84-426E-40DD-AFC4-6F175D3DCCD1}">
              <a14:hiddenFill xmlns:a14="http://schemas.microsoft.com/office/drawing/2010/main">
                <a:solidFill>
                  <a:srgbClr val="FFFFFF"/>
                </a:solidFill>
              </a14:hiddenFill>
            </a:ext>
          </a:extLst>
        </p:spPr>
      </p:pic>
      <p:pic>
        <p:nvPicPr>
          <p:cNvPr id="9" name="תמונה 8" descr="Mother and a Child in the Mirror Painting by Kazuya Akimoto">
            <a:extLst>
              <a:ext uri="{FF2B5EF4-FFF2-40B4-BE49-F238E27FC236}">
                <a16:creationId xmlns:a16="http://schemas.microsoft.com/office/drawing/2014/main" id="{06C1827E-2ACC-4FA6-929A-713520DA2172}"/>
              </a:ext>
            </a:extLst>
          </p:cNvPr>
          <p:cNvPicPr/>
          <p:nvPr/>
        </p:nvPicPr>
        <p:blipFill rotWithShape="1">
          <a:blip r:embed="rId3">
            <a:extLst>
              <a:ext uri="{28A0092B-C50C-407E-A947-70E740481C1C}">
                <a14:useLocalDpi xmlns:a14="http://schemas.microsoft.com/office/drawing/2010/main" val="0"/>
              </a:ext>
            </a:extLst>
          </a:blip>
          <a:srcRect t="1900" r="-1" b="-1"/>
          <a:stretch/>
        </p:blipFill>
        <p:spPr bwMode="auto">
          <a:xfrm>
            <a:off x="4094960" y="10"/>
            <a:ext cx="4029005" cy="5707527"/>
          </a:xfrm>
          <a:prstGeom prst="rect">
            <a:avLst/>
          </a:prstGeom>
          <a:noFill/>
        </p:spPr>
      </p:pic>
      <p:pic>
        <p:nvPicPr>
          <p:cNvPr id="3076" name="Picture 4" descr="Girl Before a Mirror 1932 (Juene Fille Devant Un Mirror) by Pablo ...">
            <a:extLst>
              <a:ext uri="{FF2B5EF4-FFF2-40B4-BE49-F238E27FC236}">
                <a16:creationId xmlns:a16="http://schemas.microsoft.com/office/drawing/2014/main" id="{80B0C96B-92DF-41C5-90C3-A413673130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346"/>
          <a:stretch/>
        </p:blipFill>
        <p:spPr bwMode="auto">
          <a:xfrm>
            <a:off x="8179347" y="1183339"/>
            <a:ext cx="4012654" cy="5707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772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D678F50B-C0EA-44BA-8D69-1AF5616FB640}"/>
              </a:ext>
            </a:extLst>
          </p:cNvPr>
          <p:cNvSpPr>
            <a:spLocks noGrp="1"/>
          </p:cNvSpPr>
          <p:nvPr>
            <p:ph type="title"/>
          </p:nvPr>
        </p:nvSpPr>
        <p:spPr>
          <a:xfrm>
            <a:off x="640079" y="2053641"/>
            <a:ext cx="3669161" cy="2760098"/>
          </a:xfrm>
        </p:spPr>
        <p:txBody>
          <a:bodyPr>
            <a:normAutofit/>
          </a:bodyPr>
          <a:lstStyle/>
          <a:p>
            <a:r>
              <a:rPr lang="en-US" dirty="0">
                <a:solidFill>
                  <a:srgbClr val="FFFFFF"/>
                </a:solidFill>
                <a:effectLst/>
                <a:latin typeface="Segoe UI Light" panose="020B0502040204020203" pitchFamily="34" charset="0"/>
              </a:rPr>
              <a:t>Mirroring </a:t>
            </a:r>
            <a:r>
              <a:rPr lang="he-IL" dirty="0">
                <a:solidFill>
                  <a:srgbClr val="FFFFFF"/>
                </a:solidFill>
                <a:effectLst/>
                <a:cs typeface="Segoe UI Light" panose="020B0502040204020203" pitchFamily="34" charset="0"/>
              </a:rPr>
              <a:t>  שיקוף</a:t>
            </a:r>
            <a:endParaRPr lang="he-IL" dirty="0">
              <a:solidFill>
                <a:srgbClr val="FFFFFF"/>
              </a:solidFill>
            </a:endParaRPr>
          </a:p>
        </p:txBody>
      </p:sp>
      <p:sp>
        <p:nvSpPr>
          <p:cNvPr id="3" name="מציין מיקום תוכן 2">
            <a:extLst>
              <a:ext uri="{FF2B5EF4-FFF2-40B4-BE49-F238E27FC236}">
                <a16:creationId xmlns:a16="http://schemas.microsoft.com/office/drawing/2014/main" id="{A830A8DF-56D5-43BB-96DA-5431CBEC9503}"/>
              </a:ext>
            </a:extLst>
          </p:cNvPr>
          <p:cNvSpPr>
            <a:spLocks noGrp="1"/>
          </p:cNvSpPr>
          <p:nvPr>
            <p:ph idx="1"/>
          </p:nvPr>
        </p:nvSpPr>
        <p:spPr>
          <a:xfrm>
            <a:off x="6090574" y="801866"/>
            <a:ext cx="5306084" cy="5230634"/>
          </a:xfrm>
        </p:spPr>
        <p:txBody>
          <a:bodyPr anchor="ctr">
            <a:normAutofit/>
          </a:bodyPr>
          <a:lstStyle/>
          <a:p>
            <a:pPr rtl="1"/>
            <a:r>
              <a:rPr lang="he-IL" sz="3200" dirty="0">
                <a:solidFill>
                  <a:srgbClr val="000000"/>
                </a:solidFill>
                <a:effectLst/>
                <a:cs typeface="Segoe UI Light" panose="020B0502040204020203" pitchFamily="34" charset="0"/>
              </a:rPr>
              <a:t>, מה שהתינוק רואה בפנים של האימא, ככה הוא מרגיש</a:t>
            </a:r>
            <a:endParaRPr lang="en-US" sz="3200" dirty="0">
              <a:solidFill>
                <a:srgbClr val="000000"/>
              </a:solidFill>
              <a:effectLst/>
            </a:endParaRPr>
          </a:p>
          <a:p>
            <a:r>
              <a:rPr lang="he-IL" sz="3200" dirty="0">
                <a:solidFill>
                  <a:srgbClr val="000000"/>
                </a:solidFill>
                <a:effectLst/>
                <a:ea typeface="Calibri" panose="020F0502020204030204" pitchFamily="34" charset="0"/>
                <a:cs typeface="Segoe UI Light" panose="020B0502040204020203" pitchFamily="34" charset="0"/>
              </a:rPr>
              <a:t>מה שהילדים רואים בנו, זה מה שהם מרגישים, הילד רואה את זה, מרגיש את זה, מומחה לזה, ילדים בסיכון מחפשים את זה</a:t>
            </a:r>
            <a:endParaRPr lang="he-IL" sz="3200" dirty="0">
              <a:solidFill>
                <a:srgbClr val="000000"/>
              </a:solidFill>
            </a:endParaRPr>
          </a:p>
        </p:txBody>
      </p:sp>
    </p:spTree>
    <p:extLst>
      <p:ext uri="{BB962C8B-B14F-4D97-AF65-F5344CB8AC3E}">
        <p14:creationId xmlns:p14="http://schemas.microsoft.com/office/powerpoint/2010/main" val="176178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EAD51D6D-3091-4CF2-AA80-5599E970143E}"/>
              </a:ext>
            </a:extLst>
          </p:cNvPr>
          <p:cNvSpPr>
            <a:spLocks noGrp="1"/>
          </p:cNvSpPr>
          <p:nvPr>
            <p:ph type="title"/>
          </p:nvPr>
        </p:nvSpPr>
        <p:spPr>
          <a:xfrm>
            <a:off x="640079" y="2053641"/>
            <a:ext cx="3669161" cy="2760098"/>
          </a:xfrm>
        </p:spPr>
        <p:txBody>
          <a:bodyPr>
            <a:normAutofit/>
          </a:bodyPr>
          <a:lstStyle/>
          <a:p>
            <a:r>
              <a:rPr lang="en-US" dirty="0">
                <a:solidFill>
                  <a:srgbClr val="FFFFFF"/>
                </a:solidFill>
                <a:effectLst/>
                <a:latin typeface="Segoe UI Light" panose="020B0502040204020203" pitchFamily="34" charset="0"/>
              </a:rPr>
              <a:t>Handling</a:t>
            </a:r>
            <a:endParaRPr lang="he-IL" dirty="0">
              <a:solidFill>
                <a:srgbClr val="FFFFFF"/>
              </a:solidFill>
            </a:endParaRPr>
          </a:p>
        </p:txBody>
      </p:sp>
      <p:sp>
        <p:nvSpPr>
          <p:cNvPr id="3" name="מציין מיקום תוכן 2">
            <a:extLst>
              <a:ext uri="{FF2B5EF4-FFF2-40B4-BE49-F238E27FC236}">
                <a16:creationId xmlns:a16="http://schemas.microsoft.com/office/drawing/2014/main" id="{BACF2619-01D2-475A-BAEF-53E96EEFA5C8}"/>
              </a:ext>
            </a:extLst>
          </p:cNvPr>
          <p:cNvSpPr>
            <a:spLocks noGrp="1"/>
          </p:cNvSpPr>
          <p:nvPr>
            <p:ph idx="1"/>
          </p:nvPr>
        </p:nvSpPr>
        <p:spPr>
          <a:xfrm>
            <a:off x="6090574" y="801866"/>
            <a:ext cx="5306084" cy="5230634"/>
          </a:xfrm>
        </p:spPr>
        <p:txBody>
          <a:bodyPr anchor="ctr">
            <a:normAutofit fontScale="92500"/>
          </a:bodyPr>
          <a:lstStyle/>
          <a:p>
            <a:r>
              <a:rPr lang="he-IL" sz="3600" dirty="0">
                <a:solidFill>
                  <a:srgbClr val="000000"/>
                </a:solidFill>
                <a:effectLst/>
                <a:cs typeface="Segoe UI Light" panose="020B0502040204020203" pitchFamily="34" charset="0"/>
              </a:rPr>
              <a:t>טיפול בגוף של התינוק, עושה אינטגרציה, מאניש אותו</a:t>
            </a:r>
          </a:p>
          <a:p>
            <a:r>
              <a:rPr lang="he-IL" sz="3600" dirty="0">
                <a:solidFill>
                  <a:srgbClr val="000000"/>
                </a:solidFill>
                <a:effectLst/>
                <a:cs typeface="Segoe UI Light" panose="020B0502040204020203" pitchFamily="34" charset="0"/>
              </a:rPr>
              <a:t> טיפול </a:t>
            </a:r>
            <a:r>
              <a:rPr lang="he-IL" sz="3600" b="1" dirty="0">
                <a:solidFill>
                  <a:srgbClr val="000000"/>
                </a:solidFill>
                <a:effectLst/>
                <a:cs typeface="Segoe UI Light" panose="020B0502040204020203" pitchFamily="34" charset="0"/>
              </a:rPr>
              <a:t>רגיש ומתפעל</a:t>
            </a:r>
            <a:r>
              <a:rPr lang="he-IL" sz="3600" dirty="0">
                <a:solidFill>
                  <a:srgbClr val="000000"/>
                </a:solidFill>
                <a:effectLst/>
                <a:cs typeface="Segoe UI Light" panose="020B0502040204020203" pitchFamily="34" charset="0"/>
              </a:rPr>
              <a:t>, הופך את התינוק לבן אנוש</a:t>
            </a:r>
          </a:p>
          <a:p>
            <a:r>
              <a:rPr lang="he-IL" sz="3600" dirty="0">
                <a:solidFill>
                  <a:srgbClr val="000000"/>
                </a:solidFill>
                <a:cs typeface="Segoe UI Light" panose="020B0502040204020203" pitchFamily="34" charset="0"/>
              </a:rPr>
              <a:t>הטיפול הגופני בילד הוא תהליך נפשי מנקודת ראותו של הילד</a:t>
            </a:r>
            <a:endParaRPr lang="he-IL" sz="3600" dirty="0">
              <a:solidFill>
                <a:srgbClr val="000000"/>
              </a:solidFill>
              <a:effectLst/>
              <a:cs typeface="Segoe UI Light" panose="020B0502040204020203" pitchFamily="34" charset="0"/>
            </a:endParaRPr>
          </a:p>
          <a:p>
            <a:r>
              <a:rPr lang="he-IL" sz="3600" dirty="0">
                <a:solidFill>
                  <a:srgbClr val="000000"/>
                </a:solidFill>
                <a:cs typeface="Segoe UI Light" panose="020B0502040204020203" pitchFamily="34" charset="0"/>
              </a:rPr>
              <a:t>כיצד עושים </a:t>
            </a:r>
            <a:r>
              <a:rPr lang="en-US" sz="3600" dirty="0">
                <a:solidFill>
                  <a:srgbClr val="000000"/>
                </a:solidFill>
                <a:cs typeface="Segoe UI Light" panose="020B0502040204020203" pitchFamily="34" charset="0"/>
              </a:rPr>
              <a:t>handling </a:t>
            </a:r>
            <a:r>
              <a:rPr lang="he-IL" sz="3600" dirty="0">
                <a:solidFill>
                  <a:srgbClr val="000000"/>
                </a:solidFill>
                <a:cs typeface="Segoe UI Light" panose="020B0502040204020203" pitchFamily="34" charset="0"/>
              </a:rPr>
              <a:t> בתוכנית שלנו?</a:t>
            </a:r>
            <a:endParaRPr lang="en-US" sz="3600" dirty="0">
              <a:solidFill>
                <a:srgbClr val="000000"/>
              </a:solidFill>
              <a:effectLst/>
            </a:endParaRPr>
          </a:p>
          <a:p>
            <a:endParaRPr lang="he-IL" sz="2400" dirty="0">
              <a:solidFill>
                <a:srgbClr val="000000"/>
              </a:solidFill>
            </a:endParaRPr>
          </a:p>
        </p:txBody>
      </p:sp>
    </p:spTree>
    <p:extLst>
      <p:ext uri="{BB962C8B-B14F-4D97-AF65-F5344CB8AC3E}">
        <p14:creationId xmlns:p14="http://schemas.microsoft.com/office/powerpoint/2010/main" val="3303378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פסלים של אמהות">
            <a:extLst>
              <a:ext uri="{FF2B5EF4-FFF2-40B4-BE49-F238E27FC236}">
                <a16:creationId xmlns:a16="http://schemas.microsoft.com/office/drawing/2014/main" id="{4027594E-55B7-4553-B691-2212DF08C8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70" r="17472" b="-2"/>
          <a:stretch/>
        </p:blipFill>
        <p:spPr bwMode="auto">
          <a:xfrm>
            <a:off x="20" y="-10150"/>
            <a:ext cx="4003019" cy="338888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פסלים של אמהות">
            <a:extLst>
              <a:ext uri="{FF2B5EF4-FFF2-40B4-BE49-F238E27FC236}">
                <a16:creationId xmlns:a16="http://schemas.microsoft.com/office/drawing/2014/main" id="{8DACB9B2-16E4-42E7-8F8F-B379CCCA78B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416" r="5532" b="-1"/>
          <a:stretch/>
        </p:blipFill>
        <p:spPr bwMode="auto">
          <a:xfrm>
            <a:off x="4094479" y="10"/>
            <a:ext cx="4014047" cy="338327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פסלים של אמהות">
            <a:extLst>
              <a:ext uri="{FF2B5EF4-FFF2-40B4-BE49-F238E27FC236}">
                <a16:creationId xmlns:a16="http://schemas.microsoft.com/office/drawing/2014/main" id="{7FD2F3A0-5425-427A-8F6C-55BE39D7E98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688" b="24853"/>
          <a:stretch/>
        </p:blipFill>
        <p:spPr bwMode="auto">
          <a:xfrm>
            <a:off x="8188960" y="10"/>
            <a:ext cx="4003039" cy="338327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פסלים של אמהות">
            <a:extLst>
              <a:ext uri="{FF2B5EF4-FFF2-40B4-BE49-F238E27FC236}">
                <a16:creationId xmlns:a16="http://schemas.microsoft.com/office/drawing/2014/main" id="{3221D0E5-EE06-4B24-B56A-553B415C290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7962" r="4" b="7595"/>
          <a:stretch/>
        </p:blipFill>
        <p:spPr bwMode="auto">
          <a:xfrm>
            <a:off x="20" y="3469102"/>
            <a:ext cx="4003019" cy="3388893"/>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פסלים של אמהות">
            <a:extLst>
              <a:ext uri="{FF2B5EF4-FFF2-40B4-BE49-F238E27FC236}">
                <a16:creationId xmlns:a16="http://schemas.microsoft.com/office/drawing/2014/main" id="{7E65E6DD-CD26-4DF2-A92D-F45401FFA2F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5" b="18239"/>
          <a:stretch/>
        </p:blipFill>
        <p:spPr bwMode="auto">
          <a:xfrm>
            <a:off x="4094479" y="3469102"/>
            <a:ext cx="4014047" cy="338328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פסלים של אמהות">
            <a:extLst>
              <a:ext uri="{FF2B5EF4-FFF2-40B4-BE49-F238E27FC236}">
                <a16:creationId xmlns:a16="http://schemas.microsoft.com/office/drawing/2014/main" id="{2F52D791-1961-4DE0-A3DB-048815078C2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2265" r="-3" b="19209"/>
          <a:stretch/>
        </p:blipFill>
        <p:spPr bwMode="auto">
          <a:xfrm>
            <a:off x="8199966" y="3469102"/>
            <a:ext cx="3992034" cy="3388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318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122" name="Picture 2" descr="גלריה יד מישל קיקואין | הגלריה האוניברסיטאית לאמנות ע&quot;ש גניה ...">
            <a:extLst>
              <a:ext uri="{FF2B5EF4-FFF2-40B4-BE49-F238E27FC236}">
                <a16:creationId xmlns:a16="http://schemas.microsoft.com/office/drawing/2014/main" id="{2DB0FC76-0618-4A62-8CBC-2558B6B9C8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69" r="1058" b="1"/>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119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1E71F9CD-963A-4B9F-A258-D51797CAFF08}"/>
              </a:ext>
            </a:extLst>
          </p:cNvPr>
          <p:cNvSpPr>
            <a:spLocks noGrp="1"/>
          </p:cNvSpPr>
          <p:nvPr>
            <p:ph type="title"/>
          </p:nvPr>
        </p:nvSpPr>
        <p:spPr>
          <a:xfrm>
            <a:off x="640079" y="2053641"/>
            <a:ext cx="3669161" cy="2760098"/>
          </a:xfrm>
        </p:spPr>
        <p:txBody>
          <a:bodyPr>
            <a:normAutofit/>
          </a:bodyPr>
          <a:lstStyle/>
          <a:p>
            <a:r>
              <a:rPr lang="he-IL" dirty="0">
                <a:solidFill>
                  <a:srgbClr val="FFFFFF"/>
                </a:solidFill>
                <a:latin typeface="Segoe UI Light" panose="020B0502040204020203" pitchFamily="34" charset="0"/>
                <a:cs typeface="Segoe UI Light" panose="020B0502040204020203" pitchFamily="34" charset="0"/>
              </a:rPr>
              <a:t>הצגת העולם  </a:t>
            </a:r>
            <a:r>
              <a:rPr lang="en-US" dirty="0">
                <a:solidFill>
                  <a:srgbClr val="FFFFFF"/>
                </a:solidFill>
                <a:latin typeface="Segoe UI Light" panose="020B0502040204020203" pitchFamily="34" charset="0"/>
                <a:cs typeface="Segoe UI Light" panose="020B0502040204020203" pitchFamily="34" charset="0"/>
              </a:rPr>
              <a:t>object presenting</a:t>
            </a:r>
            <a:endParaRPr lang="he-IL" dirty="0">
              <a:solidFill>
                <a:srgbClr val="FFFFFF"/>
              </a:solidFill>
              <a:latin typeface="Segoe UI Light" panose="020B0502040204020203" pitchFamily="34" charset="0"/>
              <a:cs typeface="Segoe UI Light" panose="020B0502040204020203" pitchFamily="34" charset="0"/>
            </a:endParaRPr>
          </a:p>
        </p:txBody>
      </p:sp>
      <p:sp>
        <p:nvSpPr>
          <p:cNvPr id="3" name="מציין מיקום תוכן 2">
            <a:extLst>
              <a:ext uri="{FF2B5EF4-FFF2-40B4-BE49-F238E27FC236}">
                <a16:creationId xmlns:a16="http://schemas.microsoft.com/office/drawing/2014/main" id="{FD8F782D-1BA8-4986-B73C-F4065596BCFE}"/>
              </a:ext>
            </a:extLst>
          </p:cNvPr>
          <p:cNvSpPr>
            <a:spLocks noGrp="1"/>
          </p:cNvSpPr>
          <p:nvPr>
            <p:ph idx="1"/>
          </p:nvPr>
        </p:nvSpPr>
        <p:spPr>
          <a:xfrm>
            <a:off x="6090574" y="801866"/>
            <a:ext cx="5306084" cy="5230634"/>
          </a:xfrm>
        </p:spPr>
        <p:txBody>
          <a:bodyPr anchor="ctr">
            <a:normAutofit/>
          </a:bodyPr>
          <a:lstStyle/>
          <a:p>
            <a:r>
              <a:rPr lang="he-IL" sz="3200" dirty="0">
                <a:solidFill>
                  <a:srgbClr val="000000"/>
                </a:solidFill>
                <a:latin typeface="Segoe UI Light" panose="020B0502040204020203" pitchFamily="34" charset="0"/>
                <a:cs typeface="Segoe UI Light" panose="020B0502040204020203" pitchFamily="34" charset="0"/>
              </a:rPr>
              <a:t>הצגת עולם שמאפשרת התמודדות-"העולם במנות קטנות"</a:t>
            </a:r>
          </a:p>
          <a:p>
            <a:r>
              <a:rPr lang="he-IL" sz="3200" dirty="0">
                <a:solidFill>
                  <a:srgbClr val="000000"/>
                </a:solidFill>
                <a:latin typeface="Segoe UI Light" panose="020B0502040204020203" pitchFamily="34" charset="0"/>
                <a:cs typeface="Segoe UI Light" panose="020B0502040204020203" pitchFamily="34" charset="0"/>
              </a:rPr>
              <a:t>מעבר הדרגתי בין תלות לעצמאות</a:t>
            </a:r>
          </a:p>
          <a:p>
            <a:r>
              <a:rPr lang="he-IL" sz="3200" dirty="0">
                <a:solidFill>
                  <a:srgbClr val="000000"/>
                </a:solidFill>
                <a:latin typeface="Segoe UI Light" panose="020B0502040204020203" pitchFamily="34" charset="0"/>
                <a:cs typeface="Segoe UI Light" panose="020B0502040204020203" pitchFamily="34" charset="0"/>
              </a:rPr>
              <a:t>על ידי-</a:t>
            </a:r>
          </a:p>
          <a:p>
            <a:r>
              <a:rPr lang="he-IL" sz="3200" dirty="0">
                <a:solidFill>
                  <a:srgbClr val="000000"/>
                </a:solidFill>
                <a:latin typeface="Segoe UI Light" panose="020B0502040204020203" pitchFamily="34" charset="0"/>
                <a:cs typeface="Segoe UI Light" panose="020B0502040204020203" pitchFamily="34" charset="0"/>
              </a:rPr>
              <a:t>משחק מותאם</a:t>
            </a:r>
          </a:p>
          <a:p>
            <a:r>
              <a:rPr lang="he-IL" sz="3200" dirty="0">
                <a:solidFill>
                  <a:srgbClr val="000000"/>
                </a:solidFill>
                <a:latin typeface="Segoe UI Light" panose="020B0502040204020203" pitchFamily="34" charset="0"/>
                <a:cs typeface="Segoe UI Light" panose="020B0502040204020203" pitchFamily="34" charset="0"/>
              </a:rPr>
              <a:t>ספר מותאם</a:t>
            </a:r>
          </a:p>
          <a:p>
            <a:r>
              <a:rPr lang="he-IL" sz="3200" dirty="0">
                <a:solidFill>
                  <a:srgbClr val="000000"/>
                </a:solidFill>
                <a:latin typeface="Segoe UI Light" panose="020B0502040204020203" pitchFamily="34" charset="0"/>
                <a:cs typeface="Segoe UI Light" panose="020B0502040204020203" pitchFamily="34" charset="0"/>
              </a:rPr>
              <a:t>תיווך מותאם בקונפליקטים </a:t>
            </a:r>
          </a:p>
        </p:txBody>
      </p:sp>
    </p:spTree>
    <p:extLst>
      <p:ext uri="{BB962C8B-B14F-4D97-AF65-F5344CB8AC3E}">
        <p14:creationId xmlns:p14="http://schemas.microsoft.com/office/powerpoint/2010/main" val="658106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תיבת טקסט 1">
            <a:extLst>
              <a:ext uri="{FF2B5EF4-FFF2-40B4-BE49-F238E27FC236}">
                <a16:creationId xmlns:a16="http://schemas.microsoft.com/office/drawing/2014/main" id="{843A70D8-1AFD-4AA4-B245-BF1CA6F34085}"/>
              </a:ext>
            </a:extLst>
          </p:cNvPr>
          <p:cNvSpPr txBox="1"/>
          <p:nvPr/>
        </p:nvSpPr>
        <p:spPr>
          <a:xfrm>
            <a:off x="3045368" y="2043663"/>
            <a:ext cx="6105194" cy="2031055"/>
          </a:xfrm>
          <a:prstGeom prst="rect">
            <a:avLst/>
          </a:prstGeom>
        </p:spPr>
        <p:txBody>
          <a:bodyPr vert="horz" lIns="91440" tIns="45720" rIns="91440" bIns="45720" rtlCol="0" anchor="b">
            <a:normAutofit/>
          </a:bodyPr>
          <a:lstStyle/>
          <a:p>
            <a:pPr algn="ctr" rtl="0">
              <a:lnSpc>
                <a:spcPct val="90000"/>
              </a:lnSpc>
              <a:spcBef>
                <a:spcPct val="0"/>
              </a:spcBef>
              <a:spcAft>
                <a:spcPts val="600"/>
              </a:spcAft>
            </a:pPr>
            <a:r>
              <a:rPr lang="en-US" sz="6000" kern="1200">
                <a:solidFill>
                  <a:srgbClr val="FFFFFF"/>
                </a:solidFill>
                <a:latin typeface="+mj-lt"/>
                <a:ea typeface="+mj-ea"/>
                <a:cs typeface="+mj-cs"/>
              </a:rPr>
              <a:t>תודה על ההקשבה</a:t>
            </a:r>
          </a:p>
        </p:txBody>
      </p:sp>
    </p:spTree>
    <p:extLst>
      <p:ext uri="{BB962C8B-B14F-4D97-AF65-F5344CB8AC3E}">
        <p14:creationId xmlns:p14="http://schemas.microsoft.com/office/powerpoint/2010/main" val="53414949"/>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מסמך" ma:contentTypeID="0x0101008D63E2876D1E4B428F19A57EDDB0EAA4" ma:contentTypeVersion="20" ma:contentTypeDescription="צור מסמך חדש." ma:contentTypeScope="" ma:versionID="1d53a38b46263a150af75ad51fe0df56">
  <xsd:schema xmlns:xsd="http://www.w3.org/2001/XMLSchema" xmlns:xs="http://www.w3.org/2001/XMLSchema" xmlns:p="http://schemas.microsoft.com/office/2006/metadata/properties" xmlns:ns2="8aab10cf-897b-4c15-9896-597919f79945" xmlns:ns3="e126f300-f2c8-4f9a-998b-bb531a298b90" targetNamespace="http://schemas.microsoft.com/office/2006/metadata/properties" ma:root="true" ma:fieldsID="6d21d46dc71488827223bd088c9ad1bf" ns2:_="" ns3:_="">
    <xsd:import namespace="8aab10cf-897b-4c15-9896-597919f79945"/>
    <xsd:import namespace="e126f300-f2c8-4f9a-998b-bb531a298b9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ab10cf-897b-4c15-9896-597919f79945"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תגיות תמונה" ma:readOnly="false" ma:fieldId="{5cf76f15-5ced-4ddc-b409-7134ff3c332f}" ma:taxonomyMulti="true" ma:sspId="2528b008-160c-4542-b481-8d26e900639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26f300-f2c8-4f9a-998b-bb531a298b90" elementFormDefault="qualified">
    <xsd:import namespace="http://schemas.microsoft.com/office/2006/documentManagement/types"/>
    <xsd:import namespace="http://schemas.microsoft.com/office/infopath/2007/PartnerControls"/>
    <xsd:element name="SharedWithUsers" ma:index="12" nillable="true" ma:displayName="משותף עם"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משותף עם פרטים" ma:description="" ma:internalName="SharedWithDetails" ma:readOnly="true">
      <xsd:simpleType>
        <xsd:restriction base="dms:Note">
          <xsd:maxLength value="255"/>
        </xsd:restriction>
      </xsd:simpleType>
    </xsd:element>
    <xsd:element name="TaxCatchAll" ma:index="21" nillable="true" ma:displayName="Taxonomy Catch All Column" ma:hidden="true" ma:list="{c5c8ea0d-af07-41a9-a011-03bfa0bf84d7}" ma:internalName="TaxCatchAll" ma:showField="CatchAllData" ma:web="e126f300-f2c8-4f9a-998b-bb531a298b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126f300-f2c8-4f9a-998b-bb531a298b90" xsi:nil="true"/>
    <lcf76f155ced4ddcb4097134ff3c332f xmlns="8aab10cf-897b-4c15-9896-597919f7994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26F2C53-9039-4C98-A6F6-ECC37EF65175}"/>
</file>

<file path=customXml/itemProps2.xml><?xml version="1.0" encoding="utf-8"?>
<ds:datastoreItem xmlns:ds="http://schemas.openxmlformats.org/officeDocument/2006/customXml" ds:itemID="{30BABF14-42E4-438E-85F0-688FB78B8191}"/>
</file>

<file path=customXml/itemProps3.xml><?xml version="1.0" encoding="utf-8"?>
<ds:datastoreItem xmlns:ds="http://schemas.openxmlformats.org/officeDocument/2006/customXml" ds:itemID="{62C78240-F1C8-4100-803E-E14A9A6FAE6E}"/>
</file>

<file path=docProps/app.xml><?xml version="1.0" encoding="utf-8"?>
<Properties xmlns="http://schemas.openxmlformats.org/officeDocument/2006/extended-properties" xmlns:vt="http://schemas.openxmlformats.org/officeDocument/2006/docPropsVTypes">
  <TotalTime>2190</TotalTime>
  <Words>1839</Words>
  <Application>Microsoft Office PowerPoint</Application>
  <PresentationFormat>מסך רחב</PresentationFormat>
  <Paragraphs>122</Paragraphs>
  <Slides>19</Slides>
  <Notes>13</Notes>
  <HiddenSlides>0</HiddenSlides>
  <MMClips>1</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19</vt:i4>
      </vt:variant>
    </vt:vector>
  </HeadingPairs>
  <TitlesOfParts>
    <vt:vector size="28" baseType="lpstr">
      <vt:lpstr>arial</vt:lpstr>
      <vt:lpstr>arial</vt:lpstr>
      <vt:lpstr>Calibri</vt:lpstr>
      <vt:lpstr>Calibri Light</vt:lpstr>
      <vt:lpstr>Guttman Yad</vt:lpstr>
      <vt:lpstr>Impact</vt:lpstr>
      <vt:lpstr>Segoe UI Light</vt:lpstr>
      <vt:lpstr>Wingdings</vt:lpstr>
      <vt:lpstr>ערכת נושא Office</vt:lpstr>
      <vt:lpstr>פדגוגיה טיפולית בגיל הרך</vt:lpstr>
      <vt:lpstr>מושגים  ממשנתו של וויניקוט</vt:lpstr>
      <vt:lpstr>תפקיד גן הילדים</vt:lpstr>
      <vt:lpstr>מצגת של PowerPoint‏</vt:lpstr>
      <vt:lpstr>מרחב פוטנציאלי</vt:lpstr>
      <vt:lpstr>מצגת של PowerPoint‏</vt:lpstr>
      <vt:lpstr>מרחב פוטנציאלי</vt:lpstr>
      <vt:lpstr>מצגת של PowerPoint‏</vt:lpstr>
      <vt:lpstr>מצגת של PowerPoint‏</vt:lpstr>
      <vt:lpstr>הולדינג במפגש עם הילד</vt:lpstr>
      <vt:lpstr>סימביוזה ונפרדות</vt:lpstr>
      <vt:lpstr>מצגת של PowerPoint‏</vt:lpstr>
      <vt:lpstr>מצגת של PowerPoint‏</vt:lpstr>
      <vt:lpstr>Mirroring   שיקוף</vt:lpstr>
      <vt:lpstr>Handling</vt:lpstr>
      <vt:lpstr>מצגת של PowerPoint‏</vt:lpstr>
      <vt:lpstr>מצגת של PowerPoint‏</vt:lpstr>
      <vt:lpstr>הצגת העולם  object presenting</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פדגוגיה טיפולית בגיל הרך</dc:title>
  <dc:creator>עפרה בן אריה</dc:creator>
  <cp:lastModifiedBy>עפרה בן אריה</cp:lastModifiedBy>
  <cp:revision>4</cp:revision>
  <cp:lastPrinted>2020-07-12T14:14:00Z</cp:lastPrinted>
  <dcterms:created xsi:type="dcterms:W3CDTF">2020-07-11T16:55:56Z</dcterms:created>
  <dcterms:modified xsi:type="dcterms:W3CDTF">2022-01-19T13:21:54Z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0x0101008D63E2876D1E4B428F19A57EDDB0EAA4</vt:lpwstr>
  </property>
</Properties>
</file>