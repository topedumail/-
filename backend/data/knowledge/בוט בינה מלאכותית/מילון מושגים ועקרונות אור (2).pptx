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Beigale" panose="020B0604020202020204" charset="-79"/>
      <p:regular r:id="rId25"/>
    </p:embeddedFont>
    <p:embeddedFont>
      <p:font typeface="Beigale Heavy" panose="020B0604020202020204" charset="-79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5" d="100"/>
          <a:sy n="35" d="100"/>
        </p:scale>
        <p:origin x="11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68696" y="382871"/>
            <a:ext cx="5750608" cy="5750608"/>
          </a:xfrm>
          <a:custGeom>
            <a:avLst/>
            <a:gdLst/>
            <a:ahLst/>
            <a:cxnLst/>
            <a:rect l="l" t="t" r="r" b="b"/>
            <a:pathLst>
              <a:path w="5750608" h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9139238" y="4820004"/>
            <a:ext cx="9525" cy="580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4446536" y="6665008"/>
            <a:ext cx="9394928" cy="28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endParaRPr/>
          </a:p>
          <a:p>
            <a:pPr algn="ctr">
              <a:lnSpc>
                <a:spcPts val="7559"/>
              </a:lnSpc>
            </a:pPr>
            <a:r>
              <a:rPr lang="en-US" sz="5399">
                <a:solidFill>
                  <a:srgbClr val="297DBC"/>
                </a:solidFill>
                <a:cs typeface="Beigale Heavy"/>
              </a:rPr>
              <a:t>מילון עקרונות תכנית אור</a:t>
            </a:r>
          </a:p>
          <a:p>
            <a:pPr algn="ctr">
              <a:lnSpc>
                <a:spcPts val="7559"/>
              </a:lnSpc>
              <a:spcBef>
                <a:spcPct val="0"/>
              </a:spcBef>
            </a:pPr>
            <a:endParaRPr lang="en-US" sz="5399">
              <a:solidFill>
                <a:srgbClr val="297DBC"/>
              </a:solidFill>
              <a:cs typeface="Beigale Heav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75138" y="327893"/>
            <a:ext cx="2273427" cy="4114800"/>
          </a:xfrm>
          <a:custGeom>
            <a:avLst/>
            <a:gdLst/>
            <a:ahLst/>
            <a:cxnLst/>
            <a:rect l="l" t="t" r="r" b="b"/>
            <a:pathLst>
              <a:path w="2273427" h="4114800">
                <a:moveTo>
                  <a:pt x="0" y="0"/>
                </a:moveTo>
                <a:lnTo>
                  <a:pt x="2273427" y="0"/>
                </a:lnTo>
                <a:lnTo>
                  <a:pt x="22734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7397161" y="327893"/>
            <a:ext cx="3493678" cy="3030766"/>
          </a:xfrm>
          <a:custGeom>
            <a:avLst/>
            <a:gdLst/>
            <a:ahLst/>
            <a:cxnLst/>
            <a:rect l="l" t="t" r="r" b="b"/>
            <a:pathLst>
              <a:path w="3493678" h="3030766">
                <a:moveTo>
                  <a:pt x="0" y="0"/>
                </a:moveTo>
                <a:lnTo>
                  <a:pt x="3493678" y="0"/>
                </a:lnTo>
                <a:lnTo>
                  <a:pt x="3493678" y="3030766"/>
                </a:lnTo>
                <a:lnTo>
                  <a:pt x="0" y="3030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14380153" y="327893"/>
            <a:ext cx="2879147" cy="4672044"/>
          </a:xfrm>
          <a:custGeom>
            <a:avLst/>
            <a:gdLst/>
            <a:ahLst/>
            <a:cxnLst/>
            <a:rect l="l" t="t" r="r" b="b"/>
            <a:pathLst>
              <a:path w="2879147" h="4672044">
                <a:moveTo>
                  <a:pt x="0" y="0"/>
                </a:moveTo>
                <a:lnTo>
                  <a:pt x="2879147" y="0"/>
                </a:lnTo>
                <a:lnTo>
                  <a:pt x="2879147" y="4672044"/>
                </a:lnTo>
                <a:lnTo>
                  <a:pt x="0" y="46720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 dirty="0">
                <a:solidFill>
                  <a:srgbClr val="297DBC"/>
                </a:solidFill>
                <a:cs typeface="Beigale"/>
              </a:rPr>
              <a:t>א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dirty="0" err="1">
                <a:solidFill>
                  <a:srgbClr val="297DBC"/>
                </a:solidFill>
                <a:cs typeface="Beigale"/>
              </a:rPr>
              <a:t>א</a:t>
            </a:r>
            <a:r>
              <a:rPr lang="en-US" sz="5600" dirty="0" err="1">
                <a:solidFill>
                  <a:srgbClr val="070707"/>
                </a:solidFill>
                <a:latin typeface="Beigale"/>
                <a:cs typeface="Beigale"/>
              </a:rPr>
              <a:t>פיונים</a:t>
            </a:r>
            <a:r>
              <a:rPr lang="en-US" sz="5600" dirty="0">
                <a:solidFill>
                  <a:srgbClr val="070707"/>
                </a:solidFill>
                <a:latin typeface="Beigale"/>
                <a:cs typeface="Beigale"/>
              </a:rPr>
              <a:t> </a:t>
            </a:r>
            <a:r>
              <a:rPr lang="en-US" sz="5600" dirty="0" err="1">
                <a:solidFill>
                  <a:srgbClr val="070707"/>
                </a:solidFill>
                <a:latin typeface="Beigale"/>
                <a:cs typeface="Beigale"/>
              </a:rPr>
              <a:t>ייחודים</a:t>
            </a:r>
            <a:r>
              <a:rPr lang="en-US" sz="5600" dirty="0">
                <a:solidFill>
                  <a:srgbClr val="070707"/>
                </a:solidFill>
                <a:latin typeface="Beigale"/>
                <a:cs typeface="Beigale"/>
              </a:rPr>
              <a:t> </a:t>
            </a:r>
            <a:r>
              <a:rPr lang="en-US" sz="5600" dirty="0" err="1">
                <a:solidFill>
                  <a:srgbClr val="070707"/>
                </a:solidFill>
                <a:latin typeface="Beigale"/>
                <a:cs typeface="Beigale"/>
              </a:rPr>
              <a:t>של</a:t>
            </a:r>
            <a:r>
              <a:rPr lang="en-US" sz="5600" dirty="0">
                <a:solidFill>
                  <a:srgbClr val="070707"/>
                </a:solidFill>
                <a:latin typeface="Beigale"/>
                <a:cs typeface="Beigale"/>
              </a:rPr>
              <a:t> </a:t>
            </a:r>
            <a:r>
              <a:rPr lang="en-US" sz="5600" dirty="0" err="1">
                <a:solidFill>
                  <a:srgbClr val="070707"/>
                </a:solidFill>
                <a:latin typeface="Beigale"/>
                <a:cs typeface="Beigale"/>
              </a:rPr>
              <a:t>הילד</a:t>
            </a:r>
            <a:r>
              <a:rPr lang="en-US" sz="5600" dirty="0">
                <a:solidFill>
                  <a:srgbClr val="070707"/>
                </a:solidFill>
                <a:latin typeface="Beigale"/>
                <a:cs typeface="Beigale"/>
              </a:rPr>
              <a:t>  </a:t>
            </a:r>
            <a:r>
              <a:rPr lang="he-IL" sz="5600" dirty="0">
                <a:solidFill>
                  <a:schemeClr val="accent1">
                    <a:lumMod val="75000"/>
                  </a:schemeClr>
                </a:solidFill>
                <a:latin typeface="Beigale"/>
                <a:cs typeface="Beigale"/>
              </a:rPr>
              <a:t>א</a:t>
            </a:r>
            <a:r>
              <a:rPr lang="he-IL" sz="5600" dirty="0">
                <a:solidFill>
                  <a:srgbClr val="070707"/>
                </a:solidFill>
                <a:latin typeface="Beigale"/>
                <a:cs typeface="Beigale"/>
              </a:rPr>
              <a:t>ינטראקציה</a:t>
            </a:r>
            <a:r>
              <a:rPr lang="en-US" sz="5600" dirty="0">
                <a:solidFill>
                  <a:srgbClr val="070707"/>
                </a:solidFill>
                <a:latin typeface="Beigale"/>
                <a:cs typeface="Beigale"/>
              </a:rPr>
              <a:t> (</a:t>
            </a:r>
            <a:r>
              <a:rPr lang="en-US" sz="5600" dirty="0" err="1">
                <a:solidFill>
                  <a:srgbClr val="070707"/>
                </a:solidFill>
                <a:latin typeface="Beigale"/>
                <a:cs typeface="Beigale"/>
              </a:rPr>
              <a:t>התייחסות</a:t>
            </a:r>
            <a:r>
              <a:rPr lang="en-US" sz="5600" dirty="0">
                <a:solidFill>
                  <a:srgbClr val="070707"/>
                </a:solidFill>
                <a:latin typeface="Beigale"/>
                <a:cs typeface="Beigale"/>
              </a:rPr>
              <a:t> ל....)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93398" y="451956"/>
            <a:ext cx="2701203" cy="3100377"/>
          </a:xfrm>
          <a:custGeom>
            <a:avLst/>
            <a:gdLst/>
            <a:ahLst/>
            <a:cxnLst/>
            <a:rect l="l" t="t" r="r" b="b"/>
            <a:pathLst>
              <a:path w="2701203" h="3100377">
                <a:moveTo>
                  <a:pt x="0" y="0"/>
                </a:moveTo>
                <a:lnTo>
                  <a:pt x="2701204" y="0"/>
                </a:lnTo>
                <a:lnTo>
                  <a:pt x="2701204" y="3100377"/>
                </a:lnTo>
                <a:lnTo>
                  <a:pt x="0" y="3100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EBC73A"/>
                </a:solidFill>
                <a:cs typeface="Beigale"/>
              </a:rPr>
              <a:t>ב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EBC73A"/>
                </a:solidFill>
                <a:cs typeface="Beigale"/>
              </a:rPr>
              <a:t>ב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חירה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01815" y="137692"/>
            <a:ext cx="2884371" cy="2851921"/>
          </a:xfrm>
          <a:custGeom>
            <a:avLst/>
            <a:gdLst/>
            <a:ahLst/>
            <a:cxnLst/>
            <a:rect l="l" t="t" r="r" b="b"/>
            <a:pathLst>
              <a:path w="2884371" h="2851921">
                <a:moveTo>
                  <a:pt x="0" y="0"/>
                </a:moveTo>
                <a:lnTo>
                  <a:pt x="2884370" y="0"/>
                </a:lnTo>
                <a:lnTo>
                  <a:pt x="2884370" y="2851922"/>
                </a:lnTo>
                <a:lnTo>
                  <a:pt x="0" y="2851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A2B6C1"/>
                </a:solidFill>
                <a:cs typeface="Beigale"/>
              </a:rPr>
              <a:t>ג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A2B6C1"/>
                </a:solidFill>
                <a:cs typeface="Beigale"/>
              </a:rPr>
              <a:t>ג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ישה מערכתית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15317" y="77932"/>
            <a:ext cx="5857367" cy="4114800"/>
          </a:xfrm>
          <a:custGeom>
            <a:avLst/>
            <a:gdLst/>
            <a:ahLst/>
            <a:cxnLst/>
            <a:rect l="l" t="t" r="r" b="b"/>
            <a:pathLst>
              <a:path w="5857367" h="4114800">
                <a:moveTo>
                  <a:pt x="0" y="0"/>
                </a:moveTo>
                <a:lnTo>
                  <a:pt x="5857366" y="0"/>
                </a:lnTo>
                <a:lnTo>
                  <a:pt x="58573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070707"/>
                </a:solidFill>
                <a:cs typeface="Beigale"/>
              </a:rPr>
              <a:t>ד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70707"/>
                </a:solidFill>
                <a:cs typeface="Beigale"/>
              </a:rPr>
              <a:t>ד</a:t>
            </a:r>
            <a:r>
              <a:rPr lang="en-US" sz="5600">
                <a:solidFill>
                  <a:srgbClr val="EBC73A"/>
                </a:solidFill>
                <a:cs typeface="Beigale"/>
              </a:rPr>
              <a:t>יאלוג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19379" y="420607"/>
            <a:ext cx="4078012" cy="2640512"/>
          </a:xfrm>
          <a:custGeom>
            <a:avLst/>
            <a:gdLst/>
            <a:ahLst/>
            <a:cxnLst/>
            <a:rect l="l" t="t" r="r" b="b"/>
            <a:pathLst>
              <a:path w="4078012" h="2640512">
                <a:moveTo>
                  <a:pt x="0" y="0"/>
                </a:moveTo>
                <a:lnTo>
                  <a:pt x="4078011" y="0"/>
                </a:lnTo>
                <a:lnTo>
                  <a:pt x="4078011" y="2640512"/>
                </a:lnTo>
                <a:lnTo>
                  <a:pt x="0" y="2640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7380463" y="45431"/>
            <a:ext cx="4675909" cy="4114800"/>
          </a:xfrm>
          <a:custGeom>
            <a:avLst/>
            <a:gdLst/>
            <a:ahLst/>
            <a:cxnLst/>
            <a:rect l="l" t="t" r="r" b="b"/>
            <a:pathLst>
              <a:path w="4675909" h="4114800">
                <a:moveTo>
                  <a:pt x="0" y="0"/>
                </a:moveTo>
                <a:lnTo>
                  <a:pt x="4675909" y="0"/>
                </a:lnTo>
                <a:lnTo>
                  <a:pt x="46759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306661" y="11968"/>
            <a:ext cx="3788415" cy="3457789"/>
          </a:xfrm>
          <a:custGeom>
            <a:avLst/>
            <a:gdLst/>
            <a:ahLst/>
            <a:cxnLst/>
            <a:rect l="l" t="t" r="r" b="b"/>
            <a:pathLst>
              <a:path w="3788415" h="3457789">
                <a:moveTo>
                  <a:pt x="0" y="0"/>
                </a:moveTo>
                <a:lnTo>
                  <a:pt x="3788414" y="0"/>
                </a:lnTo>
                <a:lnTo>
                  <a:pt x="3788414" y="3457790"/>
                </a:lnTo>
                <a:lnTo>
                  <a:pt x="0" y="34577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297DBC"/>
                </a:solidFill>
                <a:cs typeface="Beigale"/>
              </a:rPr>
              <a:t>ה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70707"/>
                </a:solidFill>
                <a:cs typeface="Beigale"/>
              </a:rPr>
              <a:t>גישה</a:t>
            </a:r>
            <a:r>
              <a:rPr lang="en-US" sz="5600">
                <a:solidFill>
                  <a:srgbClr val="297DBC"/>
                </a:solidFill>
                <a:latin typeface="Beigale"/>
                <a:cs typeface="Beigale"/>
              </a:rPr>
              <a:t> ה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תפתחותית  </a:t>
            </a:r>
            <a:r>
              <a:rPr lang="en-US" sz="5600">
                <a:solidFill>
                  <a:srgbClr val="297DBC"/>
                </a:solidFill>
                <a:latin typeface="Beigale"/>
                <a:cs typeface="Beigale"/>
              </a:rPr>
              <a:t> ה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ורים   </a:t>
            </a:r>
            <a:r>
              <a:rPr lang="en-US" sz="5600">
                <a:solidFill>
                  <a:srgbClr val="297DBC"/>
                </a:solidFill>
                <a:cs typeface="Beigale"/>
              </a:rPr>
              <a:t>ה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דרכה   </a:t>
            </a:r>
            <a:r>
              <a:rPr lang="en-US" sz="5600">
                <a:solidFill>
                  <a:srgbClr val="297DBC"/>
                </a:solidFill>
                <a:cs typeface="Beigale"/>
              </a:rPr>
              <a:t>ה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כשרה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77303" y="250809"/>
            <a:ext cx="2533395" cy="2738805"/>
          </a:xfrm>
          <a:custGeom>
            <a:avLst/>
            <a:gdLst/>
            <a:ahLst/>
            <a:cxnLst/>
            <a:rect l="l" t="t" r="r" b="b"/>
            <a:pathLst>
              <a:path w="2533395" h="2738805">
                <a:moveTo>
                  <a:pt x="0" y="0"/>
                </a:moveTo>
                <a:lnTo>
                  <a:pt x="2533394" y="0"/>
                </a:lnTo>
                <a:lnTo>
                  <a:pt x="2533394" y="2738805"/>
                </a:lnTo>
                <a:lnTo>
                  <a:pt x="0" y="2738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EBC73A"/>
                </a:solidFill>
                <a:cs typeface="Beigale"/>
              </a:rPr>
              <a:t>ו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EBC73A"/>
                </a:solidFill>
                <a:cs typeface="Beigale"/>
              </a:rPr>
              <a:t>ו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יסות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94688" y="0"/>
            <a:ext cx="5698623" cy="4523282"/>
          </a:xfrm>
          <a:custGeom>
            <a:avLst/>
            <a:gdLst/>
            <a:ahLst/>
            <a:cxnLst/>
            <a:rect l="l" t="t" r="r" b="b"/>
            <a:pathLst>
              <a:path w="5698623" h="4523282">
                <a:moveTo>
                  <a:pt x="0" y="0"/>
                </a:moveTo>
                <a:lnTo>
                  <a:pt x="5698624" y="0"/>
                </a:lnTo>
                <a:lnTo>
                  <a:pt x="5698624" y="4523282"/>
                </a:lnTo>
                <a:lnTo>
                  <a:pt x="0" y="4523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463903" y="3694588"/>
            <a:ext cx="15360193" cy="556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81"/>
              </a:lnSpc>
            </a:pPr>
            <a:r>
              <a:rPr lang="en-US" sz="25058">
                <a:solidFill>
                  <a:srgbClr val="A2B6C1"/>
                </a:solidFill>
                <a:cs typeface="Beigale"/>
              </a:rPr>
              <a:t>ז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A2B6C1"/>
                </a:solidFill>
                <a:cs typeface="Beigale"/>
              </a:rPr>
              <a:t>ז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יהוי חוזקות </a:t>
            </a:r>
            <a:r>
              <a:rPr lang="en-US" sz="5600">
                <a:solidFill>
                  <a:srgbClr val="A2B6C1"/>
                </a:solidFill>
                <a:latin typeface="Beigale"/>
                <a:cs typeface="Beigale"/>
              </a:rPr>
              <a:t>  ז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הות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73877" y="0"/>
            <a:ext cx="3814123" cy="5410103"/>
          </a:xfrm>
          <a:custGeom>
            <a:avLst/>
            <a:gdLst/>
            <a:ahLst/>
            <a:cxnLst/>
            <a:rect l="l" t="t" r="r" b="b"/>
            <a:pathLst>
              <a:path w="3814123" h="5410103">
                <a:moveTo>
                  <a:pt x="0" y="0"/>
                </a:moveTo>
                <a:lnTo>
                  <a:pt x="3814123" y="0"/>
                </a:lnTo>
                <a:lnTo>
                  <a:pt x="3814123" y="5410103"/>
                </a:lnTo>
                <a:lnTo>
                  <a:pt x="0" y="54101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7426001" y="280802"/>
            <a:ext cx="3435999" cy="2783159"/>
          </a:xfrm>
          <a:custGeom>
            <a:avLst/>
            <a:gdLst/>
            <a:ahLst/>
            <a:cxnLst/>
            <a:rect l="l" t="t" r="r" b="b"/>
            <a:pathLst>
              <a:path w="3435999" h="2783159">
                <a:moveTo>
                  <a:pt x="0" y="0"/>
                </a:moveTo>
                <a:lnTo>
                  <a:pt x="3435998" y="0"/>
                </a:lnTo>
                <a:lnTo>
                  <a:pt x="3435998" y="2783160"/>
                </a:lnTo>
                <a:lnTo>
                  <a:pt x="0" y="2783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3857605" cy="2955093"/>
          </a:xfrm>
          <a:custGeom>
            <a:avLst/>
            <a:gdLst/>
            <a:ahLst/>
            <a:cxnLst/>
            <a:rect l="l" t="t" r="r" b="b"/>
            <a:pathLst>
              <a:path w="3857605" h="2955093">
                <a:moveTo>
                  <a:pt x="0" y="0"/>
                </a:moveTo>
                <a:lnTo>
                  <a:pt x="3857605" y="0"/>
                </a:lnTo>
                <a:lnTo>
                  <a:pt x="3857605" y="2955093"/>
                </a:lnTo>
                <a:lnTo>
                  <a:pt x="0" y="2955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 t="-9470" b="-346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070707"/>
                </a:solidFill>
                <a:cs typeface="Beigale"/>
              </a:rPr>
              <a:t>ח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cs typeface="Beigale"/>
              </a:rPr>
              <a:t>ח</a:t>
            </a:r>
            <a:r>
              <a:rPr lang="en-US" sz="5600">
                <a:solidFill>
                  <a:srgbClr val="EBC73A"/>
                </a:solidFill>
                <a:cs typeface="Beigale"/>
              </a:rPr>
              <a:t>וויתיות</a:t>
            </a:r>
            <a:r>
              <a:rPr lang="en-US" sz="5600">
                <a:solidFill>
                  <a:srgbClr val="000000"/>
                </a:solidFill>
                <a:latin typeface="Beigale"/>
                <a:cs typeface="Beigale"/>
              </a:rPr>
              <a:t>, ח</a:t>
            </a:r>
            <a:r>
              <a:rPr lang="en-US" sz="5600">
                <a:solidFill>
                  <a:srgbClr val="EBC73A"/>
                </a:solidFill>
                <a:latin typeface="Beigale"/>
                <a:cs typeface="Beigale"/>
              </a:rPr>
              <a:t>ינוכי טיפולי,</a:t>
            </a:r>
            <a:r>
              <a:rPr lang="en-US" sz="5600">
                <a:solidFill>
                  <a:srgbClr val="000000"/>
                </a:solidFill>
                <a:latin typeface="Beigale"/>
                <a:cs typeface="Beigale"/>
              </a:rPr>
              <a:t> ח</a:t>
            </a:r>
            <a:r>
              <a:rPr lang="en-US" sz="5600">
                <a:solidFill>
                  <a:srgbClr val="EBC73A"/>
                </a:solidFill>
                <a:cs typeface="Beigale"/>
              </a:rPr>
              <a:t>וזקות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31358" y="0"/>
            <a:ext cx="4025285" cy="3713325"/>
          </a:xfrm>
          <a:custGeom>
            <a:avLst/>
            <a:gdLst/>
            <a:ahLst/>
            <a:cxnLst/>
            <a:rect l="l" t="t" r="r" b="b"/>
            <a:pathLst>
              <a:path w="4025285" h="3713325">
                <a:moveTo>
                  <a:pt x="0" y="0"/>
                </a:moveTo>
                <a:lnTo>
                  <a:pt x="4025284" y="0"/>
                </a:lnTo>
                <a:lnTo>
                  <a:pt x="4025284" y="3713325"/>
                </a:lnTo>
                <a:lnTo>
                  <a:pt x="0" y="371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2054653" y="3764726"/>
            <a:ext cx="14178695" cy="5493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96"/>
              </a:lnSpc>
            </a:pPr>
            <a:r>
              <a:rPr lang="en-US" sz="25068">
                <a:solidFill>
                  <a:srgbClr val="297DBC"/>
                </a:solidFill>
                <a:cs typeface="Beigale"/>
              </a:rPr>
              <a:t>ט</a:t>
            </a:r>
          </a:p>
          <a:p>
            <a:pPr algn="ctr">
              <a:lnSpc>
                <a:spcPts val="7236"/>
              </a:lnSpc>
              <a:spcBef>
                <a:spcPct val="0"/>
              </a:spcBef>
            </a:pPr>
            <a:r>
              <a:rPr lang="en-US" sz="5169">
                <a:solidFill>
                  <a:srgbClr val="297DBC"/>
                </a:solidFill>
                <a:cs typeface="Beigale"/>
              </a:rPr>
              <a:t>ט</a:t>
            </a:r>
            <a:r>
              <a:rPr lang="en-US" sz="5169">
                <a:solidFill>
                  <a:srgbClr val="070707"/>
                </a:solidFill>
                <a:cs typeface="Beigale"/>
              </a:rPr>
              <a:t>יפולי חינוכי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74766" y="1225344"/>
            <a:ext cx="2938469" cy="2938469"/>
          </a:xfrm>
          <a:custGeom>
            <a:avLst/>
            <a:gdLst/>
            <a:ahLst/>
            <a:cxnLst/>
            <a:rect l="l" t="t" r="r" b="b"/>
            <a:pathLst>
              <a:path w="2938469" h="2938469">
                <a:moveTo>
                  <a:pt x="0" y="0"/>
                </a:moveTo>
                <a:lnTo>
                  <a:pt x="2938468" y="0"/>
                </a:lnTo>
                <a:lnTo>
                  <a:pt x="2938468" y="2938469"/>
                </a:lnTo>
                <a:lnTo>
                  <a:pt x="0" y="2938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EBC73A"/>
                </a:solidFill>
                <a:cs typeface="Beigale"/>
              </a:rPr>
              <a:t>י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EBC73A"/>
                </a:solidFill>
                <a:cs typeface="Beigale"/>
              </a:rPr>
              <a:t>י</a:t>
            </a:r>
            <a:r>
              <a:rPr lang="en-US" sz="5600">
                <a:solidFill>
                  <a:srgbClr val="070707"/>
                </a:solidFill>
                <a:latin typeface="Beigale"/>
                <a:cs typeface="Beigale"/>
              </a:rPr>
              <a:t>עדים (עבודה ממוקדת)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86600" y="2983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A2B6C1"/>
                </a:solidFill>
                <a:cs typeface="Beigale"/>
              </a:rPr>
              <a:t>כ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A2B6C1"/>
                </a:solidFill>
                <a:cs typeface="Beigale"/>
              </a:rPr>
              <a:t>כ</a:t>
            </a:r>
            <a:r>
              <a:rPr lang="en-US" sz="5600">
                <a:solidFill>
                  <a:srgbClr val="070707"/>
                </a:solidFill>
                <a:latin typeface="Beigale"/>
                <a:cs typeface="Beigale"/>
              </a:rPr>
              <a:t>וליות-הוליסטיות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42109" y="0"/>
            <a:ext cx="7403781" cy="3896240"/>
          </a:xfrm>
          <a:custGeom>
            <a:avLst/>
            <a:gdLst/>
            <a:ahLst/>
            <a:cxnLst/>
            <a:rect l="l" t="t" r="r" b="b"/>
            <a:pathLst>
              <a:path w="7403781" h="3896240">
                <a:moveTo>
                  <a:pt x="0" y="0"/>
                </a:moveTo>
                <a:lnTo>
                  <a:pt x="7403782" y="0"/>
                </a:lnTo>
                <a:lnTo>
                  <a:pt x="7403782" y="3896240"/>
                </a:lnTo>
                <a:lnTo>
                  <a:pt x="0" y="3896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463903" y="2972541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070707"/>
                </a:solidFill>
                <a:cs typeface="Beigale"/>
              </a:rPr>
              <a:t>ל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cs typeface="Beigale"/>
              </a:rPr>
              <a:t>ל</a:t>
            </a:r>
            <a:r>
              <a:rPr lang="en-US" sz="5600">
                <a:solidFill>
                  <a:srgbClr val="EBC73A"/>
                </a:solidFill>
                <a:cs typeface="Beigale"/>
              </a:rPr>
              <a:t>מידה</a:t>
            </a:r>
            <a:r>
              <a:rPr lang="en-US" sz="5600">
                <a:solidFill>
                  <a:srgbClr val="000000"/>
                </a:solidFill>
                <a:latin typeface="Beigale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56619" y="0"/>
            <a:ext cx="5174762" cy="3945756"/>
          </a:xfrm>
          <a:custGeom>
            <a:avLst/>
            <a:gdLst/>
            <a:ahLst/>
            <a:cxnLst/>
            <a:rect l="l" t="t" r="r" b="b"/>
            <a:pathLst>
              <a:path w="5174762" h="3945756">
                <a:moveTo>
                  <a:pt x="0" y="0"/>
                </a:moveTo>
                <a:lnTo>
                  <a:pt x="5174762" y="0"/>
                </a:lnTo>
                <a:lnTo>
                  <a:pt x="5174762" y="3945756"/>
                </a:lnTo>
                <a:lnTo>
                  <a:pt x="0" y="394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103975" cy="2793578"/>
          </a:xfrm>
          <a:custGeom>
            <a:avLst/>
            <a:gdLst/>
            <a:ahLst/>
            <a:cxnLst/>
            <a:rect l="l" t="t" r="r" b="b"/>
            <a:pathLst>
              <a:path w="3103975" h="2793578">
                <a:moveTo>
                  <a:pt x="0" y="0"/>
                </a:moveTo>
                <a:lnTo>
                  <a:pt x="3103975" y="0"/>
                </a:lnTo>
                <a:lnTo>
                  <a:pt x="3103975" y="2793578"/>
                </a:lnTo>
                <a:lnTo>
                  <a:pt x="0" y="2793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14202774" y="0"/>
            <a:ext cx="4085226" cy="2315741"/>
          </a:xfrm>
          <a:custGeom>
            <a:avLst/>
            <a:gdLst/>
            <a:ahLst/>
            <a:cxnLst/>
            <a:rect l="l" t="t" r="r" b="b"/>
            <a:pathLst>
              <a:path w="4085226" h="2315741">
                <a:moveTo>
                  <a:pt x="0" y="0"/>
                </a:moveTo>
                <a:lnTo>
                  <a:pt x="4085226" y="0"/>
                </a:lnTo>
                <a:lnTo>
                  <a:pt x="4085226" y="2315741"/>
                </a:lnTo>
                <a:lnTo>
                  <a:pt x="0" y="23157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 t="-2226" r="-5982" b="-5979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297DBC"/>
                </a:solidFill>
                <a:cs typeface="Beigale"/>
              </a:rPr>
              <a:t>מ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297DBC"/>
                </a:solidFill>
                <a:cs typeface="Beigale"/>
              </a:rPr>
              <a:t>מ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שחק  </a:t>
            </a:r>
            <a:r>
              <a:rPr lang="en-US" sz="5600">
                <a:solidFill>
                  <a:srgbClr val="297DBC"/>
                </a:solidFill>
                <a:latin typeface="Beigale"/>
                <a:cs typeface="Beigale"/>
              </a:rPr>
              <a:t> מ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שחקיות  </a:t>
            </a:r>
            <a:r>
              <a:rPr lang="en-US" sz="5600">
                <a:solidFill>
                  <a:srgbClr val="297DBC"/>
                </a:solidFill>
                <a:latin typeface="Beigale"/>
                <a:cs typeface="Beigale"/>
              </a:rPr>
              <a:t> מ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ערכתיות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71053" y="0"/>
            <a:ext cx="4145894" cy="4114800"/>
          </a:xfrm>
          <a:custGeom>
            <a:avLst/>
            <a:gdLst/>
            <a:ahLst/>
            <a:cxnLst/>
            <a:rect l="l" t="t" r="r" b="b"/>
            <a:pathLst>
              <a:path w="4145894" h="4114800">
                <a:moveTo>
                  <a:pt x="0" y="0"/>
                </a:moveTo>
                <a:lnTo>
                  <a:pt x="4145894" y="0"/>
                </a:lnTo>
                <a:lnTo>
                  <a:pt x="4145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EBC73A"/>
                </a:solidFill>
                <a:cs typeface="Beigale"/>
              </a:rPr>
              <a:t>נ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EBC73A"/>
                </a:solidFill>
                <a:cs typeface="Beigale"/>
              </a:rPr>
              <a:t>נ</a:t>
            </a:r>
            <a:r>
              <a:rPr lang="en-US" sz="5600">
                <a:solidFill>
                  <a:srgbClr val="000000"/>
                </a:solidFill>
                <a:cs typeface="Beigale"/>
              </a:rPr>
              <a:t>וכחות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33530" y="0"/>
            <a:ext cx="4020940" cy="3864162"/>
          </a:xfrm>
          <a:custGeom>
            <a:avLst/>
            <a:gdLst/>
            <a:ahLst/>
            <a:cxnLst/>
            <a:rect l="l" t="t" r="r" b="b"/>
            <a:pathLst>
              <a:path w="4020940" h="3864162">
                <a:moveTo>
                  <a:pt x="0" y="0"/>
                </a:moveTo>
                <a:lnTo>
                  <a:pt x="4020940" y="0"/>
                </a:lnTo>
                <a:lnTo>
                  <a:pt x="4020940" y="3864162"/>
                </a:lnTo>
                <a:lnTo>
                  <a:pt x="0" y="3864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2802" r="-2802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A2B6C1"/>
                </a:solidFill>
                <a:cs typeface="Beigale"/>
              </a:rPr>
              <a:t>ס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A2B6C1"/>
                </a:solidFill>
                <a:cs typeface="Beigale"/>
              </a:rPr>
              <a:t>ס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ביבה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85002" y="0"/>
            <a:ext cx="5317997" cy="4114800"/>
          </a:xfrm>
          <a:custGeom>
            <a:avLst/>
            <a:gdLst/>
            <a:ahLst/>
            <a:cxnLst/>
            <a:rect l="l" t="t" r="r" b="b"/>
            <a:pathLst>
              <a:path w="5317997" h="4114800">
                <a:moveTo>
                  <a:pt x="0" y="0"/>
                </a:moveTo>
                <a:lnTo>
                  <a:pt x="5317996" y="0"/>
                </a:lnTo>
                <a:lnTo>
                  <a:pt x="53179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070707"/>
                </a:solidFill>
                <a:cs typeface="Beigale"/>
              </a:rPr>
              <a:t>ע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70707"/>
                </a:solidFill>
                <a:cs typeface="Beigale"/>
              </a:rPr>
              <a:t>ע</a:t>
            </a:r>
            <a:r>
              <a:rPr lang="en-US" sz="5600">
                <a:solidFill>
                  <a:srgbClr val="EBC73A"/>
                </a:solidFill>
                <a:latin typeface="Beigale"/>
                <a:cs typeface="Beigale"/>
              </a:rPr>
              <a:t>ניין- תחומי עניין של הילדים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297DBC"/>
                </a:solidFill>
                <a:cs typeface="Beigale"/>
              </a:rPr>
              <a:t>פ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297DBC"/>
                </a:solidFill>
                <a:cs typeface="Beigale"/>
              </a:rPr>
              <a:t>פ</a:t>
            </a:r>
            <a:r>
              <a:rPr lang="en-US" sz="5600">
                <a:solidFill>
                  <a:srgbClr val="070707"/>
                </a:solidFill>
                <a:latin typeface="Beigale"/>
                <a:cs typeface="Beigale"/>
              </a:rPr>
              <a:t>דגוגיה טיפולית, </a:t>
            </a:r>
            <a:r>
              <a:rPr lang="en-US" sz="5600">
                <a:solidFill>
                  <a:srgbClr val="297DBC"/>
                </a:solidFill>
                <a:cs typeface="Beigale"/>
              </a:rPr>
              <a:t>פ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וטנציאל התפתחותי</a:t>
            </a:r>
          </a:p>
        </p:txBody>
      </p:sp>
      <p:sp>
        <p:nvSpPr>
          <p:cNvPr id="3" name="Freeform 3"/>
          <p:cNvSpPr/>
          <p:nvPr/>
        </p:nvSpPr>
        <p:spPr>
          <a:xfrm>
            <a:off x="6227223" y="0"/>
            <a:ext cx="5833554" cy="3864162"/>
          </a:xfrm>
          <a:custGeom>
            <a:avLst/>
            <a:gdLst/>
            <a:ahLst/>
            <a:cxnLst/>
            <a:rect l="l" t="t" r="r" b="b"/>
            <a:pathLst>
              <a:path w="5833554" h="3864162">
                <a:moveTo>
                  <a:pt x="0" y="0"/>
                </a:moveTo>
                <a:lnTo>
                  <a:pt x="5833554" y="0"/>
                </a:lnTo>
                <a:lnTo>
                  <a:pt x="5833554" y="3864162"/>
                </a:lnTo>
                <a:lnTo>
                  <a:pt x="0" y="3864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5325" t="-573" r="-5325"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61177" y="0"/>
            <a:ext cx="3165646" cy="3336649"/>
          </a:xfrm>
          <a:custGeom>
            <a:avLst/>
            <a:gdLst/>
            <a:ahLst/>
            <a:cxnLst/>
            <a:rect l="l" t="t" r="r" b="b"/>
            <a:pathLst>
              <a:path w="3165646" h="3336649">
                <a:moveTo>
                  <a:pt x="0" y="0"/>
                </a:moveTo>
                <a:lnTo>
                  <a:pt x="3165646" y="0"/>
                </a:lnTo>
                <a:lnTo>
                  <a:pt x="3165646" y="3336649"/>
                </a:lnTo>
                <a:lnTo>
                  <a:pt x="0" y="33366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EBC73A"/>
                </a:solidFill>
                <a:cs typeface="Beigale"/>
              </a:rPr>
              <a:t>צ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EBC73A"/>
                </a:solidFill>
                <a:cs typeface="Beigale"/>
              </a:rPr>
              <a:t>צ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וותים    עבודת </a:t>
            </a:r>
            <a:r>
              <a:rPr lang="en-US" sz="5600">
                <a:solidFill>
                  <a:srgbClr val="EBC73A"/>
                </a:solidFill>
                <a:cs typeface="Beigale"/>
              </a:rPr>
              <a:t>צ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וות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77085" y="0"/>
            <a:ext cx="3910915" cy="3671371"/>
          </a:xfrm>
          <a:custGeom>
            <a:avLst/>
            <a:gdLst/>
            <a:ahLst/>
            <a:cxnLst/>
            <a:rect l="l" t="t" r="r" b="b"/>
            <a:pathLst>
              <a:path w="3910915" h="3671371">
                <a:moveTo>
                  <a:pt x="0" y="0"/>
                </a:moveTo>
                <a:lnTo>
                  <a:pt x="3910915" y="0"/>
                </a:lnTo>
                <a:lnTo>
                  <a:pt x="3910915" y="3671371"/>
                </a:lnTo>
                <a:lnTo>
                  <a:pt x="0" y="3671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7554744" y="0"/>
            <a:ext cx="3178513" cy="3255839"/>
          </a:xfrm>
          <a:custGeom>
            <a:avLst/>
            <a:gdLst/>
            <a:ahLst/>
            <a:cxnLst/>
            <a:rect l="l" t="t" r="r" b="b"/>
            <a:pathLst>
              <a:path w="3178513" h="3255839">
                <a:moveTo>
                  <a:pt x="0" y="0"/>
                </a:moveTo>
                <a:lnTo>
                  <a:pt x="3178512" y="0"/>
                </a:lnTo>
                <a:lnTo>
                  <a:pt x="3178512" y="3255839"/>
                </a:lnTo>
                <a:lnTo>
                  <a:pt x="0" y="3255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4729655" cy="4114800"/>
          </a:xfrm>
          <a:custGeom>
            <a:avLst/>
            <a:gdLst/>
            <a:ahLst/>
            <a:cxnLst/>
            <a:rect l="l" t="t" r="r" b="b"/>
            <a:pathLst>
              <a:path w="4729655" h="4114800">
                <a:moveTo>
                  <a:pt x="0" y="0"/>
                </a:moveTo>
                <a:lnTo>
                  <a:pt x="4729655" y="0"/>
                </a:lnTo>
                <a:lnTo>
                  <a:pt x="47296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A2B6C1"/>
                </a:solidFill>
                <a:cs typeface="Beigale"/>
              </a:rPr>
              <a:t>ק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A2B6C1"/>
                </a:solidFill>
                <a:cs typeface="Beigale"/>
              </a:rPr>
              <a:t>ק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שר   תחום</a:t>
            </a:r>
            <a:r>
              <a:rPr lang="en-US" sz="5600">
                <a:solidFill>
                  <a:srgbClr val="A2B6C1"/>
                </a:solidFill>
                <a:latin typeface="Beigale"/>
                <a:cs typeface="Beigale"/>
              </a:rPr>
              <a:t> ק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וגניטיבי   </a:t>
            </a:r>
            <a:r>
              <a:rPr lang="en-US" sz="5600">
                <a:solidFill>
                  <a:srgbClr val="A2B6C1"/>
                </a:solidFill>
                <a:cs typeface="Beigale"/>
              </a:rPr>
              <a:t>ק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בוצה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75457" y="0"/>
            <a:ext cx="3337086" cy="3211946"/>
          </a:xfrm>
          <a:custGeom>
            <a:avLst/>
            <a:gdLst/>
            <a:ahLst/>
            <a:cxnLst/>
            <a:rect l="l" t="t" r="r" b="b"/>
            <a:pathLst>
              <a:path w="3337086" h="3211946">
                <a:moveTo>
                  <a:pt x="0" y="0"/>
                </a:moveTo>
                <a:lnTo>
                  <a:pt x="3337086" y="0"/>
                </a:lnTo>
                <a:lnTo>
                  <a:pt x="3337086" y="3211946"/>
                </a:lnTo>
                <a:lnTo>
                  <a:pt x="0" y="3211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070707"/>
                </a:solidFill>
                <a:cs typeface="Beigale"/>
              </a:rPr>
              <a:t>ר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cs typeface="Beigale"/>
              </a:rPr>
              <a:t>ר</a:t>
            </a:r>
            <a:r>
              <a:rPr lang="en-US" sz="5600">
                <a:solidFill>
                  <a:srgbClr val="EBC73A"/>
                </a:solidFill>
                <a:cs typeface="Beigale"/>
              </a:rPr>
              <a:t>ב תחומי</a:t>
            </a:r>
            <a:r>
              <a:rPr lang="en-US" sz="5600">
                <a:solidFill>
                  <a:srgbClr val="000000"/>
                </a:solidFill>
                <a:latin typeface="Beigale"/>
              </a:rPr>
              <a:t>   </a:t>
            </a:r>
            <a:r>
              <a:rPr lang="en-US" sz="5600">
                <a:solidFill>
                  <a:srgbClr val="EBC73A"/>
                </a:solidFill>
                <a:cs typeface="Beigale"/>
              </a:rPr>
              <a:t>תחום 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ר</a:t>
            </a:r>
            <a:r>
              <a:rPr lang="en-US" sz="5600">
                <a:solidFill>
                  <a:srgbClr val="EBC73A"/>
                </a:solidFill>
                <a:cs typeface="Beigale"/>
              </a:rPr>
              <a:t>גשי</a:t>
            </a:r>
          </a:p>
        </p:txBody>
      </p:sp>
      <p:sp>
        <p:nvSpPr>
          <p:cNvPr id="4" name="Freeform 4"/>
          <p:cNvSpPr/>
          <p:nvPr/>
        </p:nvSpPr>
        <p:spPr>
          <a:xfrm>
            <a:off x="14162887" y="0"/>
            <a:ext cx="4125113" cy="4114800"/>
          </a:xfrm>
          <a:custGeom>
            <a:avLst/>
            <a:gdLst/>
            <a:ahLst/>
            <a:cxnLst/>
            <a:rect l="l" t="t" r="r" b="b"/>
            <a:pathLst>
              <a:path w="4125113" h="4114800">
                <a:moveTo>
                  <a:pt x="0" y="0"/>
                </a:moveTo>
                <a:lnTo>
                  <a:pt x="4125113" y="0"/>
                </a:lnTo>
                <a:lnTo>
                  <a:pt x="41251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4314338" cy="4114800"/>
          </a:xfrm>
          <a:custGeom>
            <a:avLst/>
            <a:gdLst/>
            <a:ahLst/>
            <a:cxnLst/>
            <a:rect l="l" t="t" r="r" b="b"/>
            <a:pathLst>
              <a:path w="4314338" h="4114800">
                <a:moveTo>
                  <a:pt x="0" y="0"/>
                </a:moveTo>
                <a:lnTo>
                  <a:pt x="4314338" y="0"/>
                </a:lnTo>
                <a:lnTo>
                  <a:pt x="43143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78344" y="0"/>
            <a:ext cx="4109657" cy="4114800"/>
          </a:xfrm>
          <a:custGeom>
            <a:avLst/>
            <a:gdLst/>
            <a:ahLst/>
            <a:cxnLst/>
            <a:rect l="l" t="t" r="r" b="b"/>
            <a:pathLst>
              <a:path w="4109657" h="4114800">
                <a:moveTo>
                  <a:pt x="0" y="0"/>
                </a:moveTo>
                <a:lnTo>
                  <a:pt x="4109656" y="0"/>
                </a:lnTo>
                <a:lnTo>
                  <a:pt x="41096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785616" cy="4114800"/>
          </a:xfrm>
          <a:custGeom>
            <a:avLst/>
            <a:gdLst/>
            <a:ahLst/>
            <a:cxnLst/>
            <a:rect l="l" t="t" r="r" b="b"/>
            <a:pathLst>
              <a:path w="3785616" h="4114800">
                <a:moveTo>
                  <a:pt x="0" y="0"/>
                </a:moveTo>
                <a:lnTo>
                  <a:pt x="3785616" y="0"/>
                </a:lnTo>
                <a:lnTo>
                  <a:pt x="37856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TextBox 4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297DBC"/>
                </a:solidFill>
                <a:cs typeface="Beigale"/>
              </a:rPr>
              <a:t>ש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70707"/>
                </a:solidFill>
                <a:cs typeface="Beigale"/>
              </a:rPr>
              <a:t>תחום</a:t>
            </a:r>
            <a:r>
              <a:rPr lang="en-US" sz="5600">
                <a:solidFill>
                  <a:srgbClr val="297DBC"/>
                </a:solidFill>
                <a:latin typeface="Beigale"/>
                <a:cs typeface="Beigale"/>
              </a:rPr>
              <a:t> ש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פתי   </a:t>
            </a:r>
            <a:r>
              <a:rPr lang="en-US" sz="5600">
                <a:solidFill>
                  <a:srgbClr val="297DBC"/>
                </a:solidFill>
                <a:cs typeface="Beigale"/>
              </a:rPr>
              <a:t>ש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ותפות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56722" y="0"/>
            <a:ext cx="4774557" cy="4114800"/>
          </a:xfrm>
          <a:custGeom>
            <a:avLst/>
            <a:gdLst/>
            <a:ahLst/>
            <a:cxnLst/>
            <a:rect l="l" t="t" r="r" b="b"/>
            <a:pathLst>
              <a:path w="4774557" h="4114800">
                <a:moveTo>
                  <a:pt x="0" y="0"/>
                </a:moveTo>
                <a:lnTo>
                  <a:pt x="4774556" y="0"/>
                </a:lnTo>
                <a:lnTo>
                  <a:pt x="47745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4250352" y="0"/>
            <a:ext cx="4037647" cy="4114800"/>
          </a:xfrm>
          <a:custGeom>
            <a:avLst/>
            <a:gdLst/>
            <a:ahLst/>
            <a:cxnLst/>
            <a:rect l="l" t="t" r="r" b="b"/>
            <a:pathLst>
              <a:path w="4037647" h="4114800">
                <a:moveTo>
                  <a:pt x="0" y="0"/>
                </a:moveTo>
                <a:lnTo>
                  <a:pt x="4037648" y="0"/>
                </a:lnTo>
                <a:lnTo>
                  <a:pt x="40376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TextBox 4"/>
          <p:cNvSpPr txBox="1"/>
          <p:nvPr/>
        </p:nvSpPr>
        <p:spPr>
          <a:xfrm>
            <a:off x="1463903" y="3283137"/>
            <a:ext cx="15360193" cy="597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20"/>
              </a:lnSpc>
            </a:pPr>
            <a:r>
              <a:rPr lang="en-US" sz="27157">
                <a:solidFill>
                  <a:srgbClr val="EBC73A"/>
                </a:solidFill>
                <a:cs typeface="Beigale"/>
              </a:rPr>
              <a:t>ת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EBC73A"/>
                </a:solidFill>
                <a:cs typeface="Beigale"/>
              </a:rPr>
              <a:t>ת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יווך   </a:t>
            </a:r>
            <a:r>
              <a:rPr lang="en-US" sz="5600">
                <a:solidFill>
                  <a:srgbClr val="EBC73A"/>
                </a:solidFill>
                <a:latin typeface="Beigale"/>
                <a:cs typeface="Beigale"/>
              </a:rPr>
              <a:t> ת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נועה   </a:t>
            </a:r>
            <a:r>
              <a:rPr lang="en-US" sz="5600">
                <a:solidFill>
                  <a:srgbClr val="EBC73A"/>
                </a:solidFill>
                <a:latin typeface="Beigale"/>
                <a:cs typeface="Beigale"/>
              </a:rPr>
              <a:t> ת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חומי</a:t>
            </a:r>
            <a:r>
              <a:rPr lang="en-US" sz="5600">
                <a:solidFill>
                  <a:srgbClr val="EBC73A"/>
                </a:solidFill>
                <a:latin typeface="Beigale"/>
              </a:rPr>
              <a:t> </a:t>
            </a:r>
            <a:r>
              <a:rPr lang="en-US" sz="5600">
                <a:solidFill>
                  <a:srgbClr val="070707"/>
                </a:solidFill>
                <a:cs typeface="Beigale"/>
              </a:rPr>
              <a:t>עניין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4725346" cy="3614890"/>
          </a:xfrm>
          <a:custGeom>
            <a:avLst/>
            <a:gdLst/>
            <a:ahLst/>
            <a:cxnLst/>
            <a:rect l="l" t="t" r="r" b="b"/>
            <a:pathLst>
              <a:path w="4725346" h="3614890">
                <a:moveTo>
                  <a:pt x="0" y="0"/>
                </a:moveTo>
                <a:lnTo>
                  <a:pt x="4725346" y="0"/>
                </a:lnTo>
                <a:lnTo>
                  <a:pt x="4725346" y="3614890"/>
                </a:lnTo>
                <a:lnTo>
                  <a:pt x="0" y="3614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8D63E2876D1E4B428F19A57EDDB0EAA4" ma:contentTypeVersion="20" ma:contentTypeDescription="צור מסמך חדש." ma:contentTypeScope="" ma:versionID="1d53a38b46263a150af75ad51fe0df56">
  <xsd:schema xmlns:xsd="http://www.w3.org/2001/XMLSchema" xmlns:xs="http://www.w3.org/2001/XMLSchema" xmlns:p="http://schemas.microsoft.com/office/2006/metadata/properties" xmlns:ns2="8aab10cf-897b-4c15-9896-597919f79945" xmlns:ns3="e126f300-f2c8-4f9a-998b-bb531a298b90" targetNamespace="http://schemas.microsoft.com/office/2006/metadata/properties" ma:root="true" ma:fieldsID="6d21d46dc71488827223bd088c9ad1bf" ns2:_="" ns3:_="">
    <xsd:import namespace="8aab10cf-897b-4c15-9896-597919f79945"/>
    <xsd:import namespace="e126f300-f2c8-4f9a-998b-bb531a298b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b10cf-897b-4c15-9896-597919f799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תגיות תמונה" ma:readOnly="false" ma:fieldId="{5cf76f15-5ced-4ddc-b409-7134ff3c332f}" ma:taxonomyMulti="true" ma:sspId="2528b008-160c-4542-b481-8d26e90063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6f300-f2c8-4f9a-998b-bb531a298b9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משותף עם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משותף עם פרטים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c5c8ea0d-af07-41a9-a011-03bfa0bf84d7}" ma:internalName="TaxCatchAll" ma:showField="CatchAllData" ma:web="e126f300-f2c8-4f9a-998b-bb531a298b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126f300-f2c8-4f9a-998b-bb531a298b90" xsi:nil="true"/>
    <lcf76f155ced4ddcb4097134ff3c332f xmlns="8aab10cf-897b-4c15-9896-597919f7994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EB8A0C9-137E-410E-AEA5-A7437738B3D8}"/>
</file>

<file path=customXml/itemProps2.xml><?xml version="1.0" encoding="utf-8"?>
<ds:datastoreItem xmlns:ds="http://schemas.openxmlformats.org/officeDocument/2006/customXml" ds:itemID="{2E6C8C07-19B1-483D-93B1-6C7287EC494C}"/>
</file>

<file path=customXml/itemProps3.xml><?xml version="1.0" encoding="utf-8"?>
<ds:datastoreItem xmlns:ds="http://schemas.openxmlformats.org/officeDocument/2006/customXml" ds:itemID="{6FC422DE-3D52-4467-8088-36CD1D34A882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</Words>
  <Application>Microsoft Office PowerPoint</Application>
  <PresentationFormat>מותאם אישית</PresentationFormat>
  <Paragraphs>46</Paragraphs>
  <Slides>23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23</vt:i4>
      </vt:variant>
    </vt:vector>
  </HeadingPairs>
  <TitlesOfParts>
    <vt:vector size="28" baseType="lpstr">
      <vt:lpstr>Arial</vt:lpstr>
      <vt:lpstr>Beigale Heavy</vt:lpstr>
      <vt:lpstr>Calibri</vt:lpstr>
      <vt:lpstr>Beigale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מילון מושגים ועקרונות אור</dc:title>
  <dc:creator>עפרה בן אריה</dc:creator>
  <cp:lastModifiedBy>עפרה בן אריה</cp:lastModifiedBy>
  <cp:revision>2</cp:revision>
  <dcterms:created xsi:type="dcterms:W3CDTF">2006-08-16T00:00:00Z</dcterms:created>
  <dcterms:modified xsi:type="dcterms:W3CDTF">2024-01-31T10:28:59Z</dcterms:modified>
  <dc:identifier>DAF7K1cn0zg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0x0101008D63E2876D1E4B428F19A57EDDB0EAA4</vt:lpwstr>
  </property>
</Properties>
</file>